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37776150" cy="28332113"/>
  <p:notesSz cx="6858000" cy="9144000"/>
  <p:embeddedFontLst>
    <p:embeddedFont>
      <p:font typeface="Georgia" panose="02040502050405020303" pitchFamily="18" charset="0"/>
      <p:regular r:id="rId4"/>
      <p:bold r:id="rId5"/>
      <p:italic r:id="rId6"/>
      <p:boldItalic r:id="rId7"/>
    </p:embeddedFont>
    <p:embeddedFont>
      <p:font typeface="Montserrat Black" panose="02010600030101010101" charset="0"/>
      <p:bold r:id="rId8"/>
      <p:boldItalic r:id="rId9"/>
    </p:embeddedFont>
    <p:embeddedFont>
      <p:font typeface="Spectral ExtraLight" panose="02010600030101010101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8923" userDrawn="1">
          <p15:clr>
            <a:srgbClr val="A4A3A4"/>
          </p15:clr>
        </p15:guide>
        <p15:guide id="2" pos="1189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87" autoAdjust="0"/>
    <p:restoredTop sz="94660"/>
  </p:normalViewPr>
  <p:slideViewPr>
    <p:cSldViewPr snapToGrid="0">
      <p:cViewPr varScale="1">
        <p:scale>
          <a:sx n="40" d="100"/>
          <a:sy n="40" d="100"/>
        </p:scale>
        <p:origin x="1452" y="132"/>
      </p:cViewPr>
      <p:guideLst>
        <p:guide orient="horz" pos="8923"/>
        <p:guide pos="1189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35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f6992da395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35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f6992da395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287769" y="4101351"/>
            <a:ext cx="35199591" cy="11307000"/>
          </a:xfrm>
          <a:prstGeom prst="rect">
            <a:avLst/>
          </a:prstGeom>
        </p:spPr>
        <p:txBody>
          <a:bodyPr spcFirstLastPara="1" wrap="square" lIns="421750" tIns="421750" rIns="421750" bIns="4217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287735" y="15611243"/>
            <a:ext cx="35199591" cy="4365000"/>
          </a:xfrm>
          <a:prstGeom prst="rect">
            <a:avLst/>
          </a:prstGeom>
        </p:spPr>
        <p:txBody>
          <a:bodyPr spcFirstLastPara="1" wrap="square" lIns="421750" tIns="421750" rIns="421750" bIns="4217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35002497" y="25686451"/>
            <a:ext cx="2268802" cy="2169000"/>
          </a:xfrm>
          <a:prstGeom prst="rect">
            <a:avLst/>
          </a:prstGeom>
        </p:spPr>
        <p:txBody>
          <a:bodyPr spcFirstLastPara="1" wrap="square" lIns="421750" tIns="421750" rIns="421750" bIns="421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287735" y="11847552"/>
            <a:ext cx="35199591" cy="4638000"/>
          </a:xfrm>
          <a:prstGeom prst="rect">
            <a:avLst/>
          </a:prstGeom>
        </p:spPr>
        <p:txBody>
          <a:bodyPr spcFirstLastPara="1" wrap="square" lIns="421750" tIns="421750" rIns="421750" bIns="4217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35002497" y="25686451"/>
            <a:ext cx="2268802" cy="2169000"/>
          </a:xfrm>
          <a:prstGeom prst="rect">
            <a:avLst/>
          </a:prstGeom>
        </p:spPr>
        <p:txBody>
          <a:bodyPr spcFirstLastPara="1" wrap="square" lIns="421750" tIns="421750" rIns="421750" bIns="421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1287735" y="2451336"/>
            <a:ext cx="35199591" cy="3153000"/>
          </a:xfrm>
          <a:prstGeom prst="rect">
            <a:avLst/>
          </a:prstGeom>
        </p:spPr>
        <p:txBody>
          <a:bodyPr spcFirstLastPara="1" wrap="square" lIns="421750" tIns="421750" rIns="421750" bIns="4217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1287735" y="6348191"/>
            <a:ext cx="16524493" cy="18819000"/>
          </a:xfrm>
          <a:prstGeom prst="rect">
            <a:avLst/>
          </a:prstGeom>
        </p:spPr>
        <p:txBody>
          <a:bodyPr spcFirstLastPara="1" wrap="square" lIns="421750" tIns="421750" rIns="421750" bIns="421750" anchor="t" anchorCtr="0">
            <a:normAutofit/>
          </a:bodyPr>
          <a:lstStyle>
            <a:lvl1pPr marL="457200" lvl="0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1pPr>
            <a:lvl2pPr marL="914400" lvl="1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2pPr>
            <a:lvl3pPr marL="1371600" lvl="2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3pPr>
            <a:lvl4pPr marL="1828800" lvl="3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4pPr>
            <a:lvl5pPr marL="2286000" lvl="4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5pPr>
            <a:lvl6pPr marL="2743200" lvl="5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6pPr>
            <a:lvl7pPr marL="3200400" lvl="6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7pPr>
            <a:lvl8pPr marL="3657600" lvl="7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8pPr>
            <a:lvl9pPr marL="4114800" lvl="8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19964227" y="6348191"/>
            <a:ext cx="16524493" cy="18819000"/>
          </a:xfrm>
          <a:prstGeom prst="rect">
            <a:avLst/>
          </a:prstGeom>
        </p:spPr>
        <p:txBody>
          <a:bodyPr spcFirstLastPara="1" wrap="square" lIns="421750" tIns="421750" rIns="421750" bIns="421750" anchor="t" anchorCtr="0">
            <a:normAutofit/>
          </a:bodyPr>
          <a:lstStyle>
            <a:lvl1pPr marL="457200" lvl="0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1pPr>
            <a:lvl2pPr marL="914400" lvl="1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2pPr>
            <a:lvl3pPr marL="1371600" lvl="2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3pPr>
            <a:lvl4pPr marL="1828800" lvl="3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4pPr>
            <a:lvl5pPr marL="2286000" lvl="4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5pPr>
            <a:lvl6pPr marL="2743200" lvl="5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6pPr>
            <a:lvl7pPr marL="3200400" lvl="6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7pPr>
            <a:lvl8pPr marL="3657600" lvl="7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8pPr>
            <a:lvl9pPr marL="4114800" lvl="8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35002497" y="25686451"/>
            <a:ext cx="2268802" cy="2169000"/>
          </a:xfrm>
          <a:prstGeom prst="rect">
            <a:avLst/>
          </a:prstGeom>
        </p:spPr>
        <p:txBody>
          <a:bodyPr spcFirstLastPara="1" wrap="square" lIns="421750" tIns="421750" rIns="421750" bIns="421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1287735" y="2451336"/>
            <a:ext cx="35199591" cy="3153000"/>
          </a:xfrm>
          <a:prstGeom prst="rect">
            <a:avLst/>
          </a:prstGeom>
        </p:spPr>
        <p:txBody>
          <a:bodyPr spcFirstLastPara="1" wrap="square" lIns="421750" tIns="421750" rIns="421750" bIns="4217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35002497" y="25686451"/>
            <a:ext cx="2268802" cy="2169000"/>
          </a:xfrm>
          <a:prstGeom prst="rect">
            <a:avLst/>
          </a:prstGeom>
        </p:spPr>
        <p:txBody>
          <a:bodyPr spcFirstLastPara="1" wrap="square" lIns="421750" tIns="421750" rIns="421750" bIns="421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1287735" y="3060418"/>
            <a:ext cx="11600586" cy="4161000"/>
          </a:xfrm>
          <a:prstGeom prst="rect">
            <a:avLst/>
          </a:prstGeom>
        </p:spPr>
        <p:txBody>
          <a:bodyPr spcFirstLastPara="1" wrap="square" lIns="421750" tIns="421750" rIns="421750" bIns="42175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1pPr>
            <a:lvl2pPr lvl="1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2pPr>
            <a:lvl3pPr lvl="2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3pPr>
            <a:lvl4pPr lvl="3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4pPr>
            <a:lvl5pPr lvl="4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5pPr>
            <a:lvl6pPr lvl="5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6pPr>
            <a:lvl7pPr lvl="6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7pPr>
            <a:lvl8pPr lvl="7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8pPr>
            <a:lvl9pPr lvl="8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1287735" y="7654350"/>
            <a:ext cx="11600586" cy="17514000"/>
          </a:xfrm>
          <a:prstGeom prst="rect">
            <a:avLst/>
          </a:prstGeom>
        </p:spPr>
        <p:txBody>
          <a:bodyPr spcFirstLastPara="1" wrap="square" lIns="421750" tIns="421750" rIns="421750" bIns="421750" anchor="t" anchorCtr="0">
            <a:normAutofit/>
          </a:bodyPr>
          <a:lstStyle>
            <a:lvl1pPr marL="457200" lvl="0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1pPr>
            <a:lvl2pPr marL="914400" lvl="1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2pPr>
            <a:lvl3pPr marL="1371600" lvl="2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3pPr>
            <a:lvl4pPr marL="1828800" lvl="3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4pPr>
            <a:lvl5pPr marL="2286000" lvl="4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5pPr>
            <a:lvl6pPr marL="2743200" lvl="5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6pPr>
            <a:lvl7pPr marL="3200400" lvl="6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7pPr>
            <a:lvl8pPr marL="3657600" lvl="7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8pPr>
            <a:lvl9pPr marL="4114800" lvl="8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35002497" y="25686451"/>
            <a:ext cx="2268802" cy="2169000"/>
          </a:xfrm>
          <a:prstGeom prst="rect">
            <a:avLst/>
          </a:prstGeom>
        </p:spPr>
        <p:txBody>
          <a:bodyPr spcFirstLastPara="1" wrap="square" lIns="421750" tIns="421750" rIns="421750" bIns="421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2025384" y="2479566"/>
            <a:ext cx="26308883" cy="22533000"/>
          </a:xfrm>
          <a:prstGeom prst="rect">
            <a:avLst/>
          </a:prstGeom>
        </p:spPr>
        <p:txBody>
          <a:bodyPr spcFirstLastPara="1" wrap="square" lIns="421750" tIns="421750" rIns="421750" bIns="42175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0"/>
              <a:buNone/>
              <a:defRPr sz="22000"/>
            </a:lvl1pPr>
            <a:lvl2pPr lvl="1">
              <a:spcBef>
                <a:spcPts val="0"/>
              </a:spcBef>
              <a:spcAft>
                <a:spcPts val="0"/>
              </a:spcAft>
              <a:buSzPts val="22000"/>
              <a:buNone/>
              <a:defRPr sz="22000"/>
            </a:lvl2pPr>
            <a:lvl3pPr lvl="2">
              <a:spcBef>
                <a:spcPts val="0"/>
              </a:spcBef>
              <a:spcAft>
                <a:spcPts val="0"/>
              </a:spcAft>
              <a:buSzPts val="22000"/>
              <a:buNone/>
              <a:defRPr sz="22000"/>
            </a:lvl3pPr>
            <a:lvl4pPr lvl="3">
              <a:spcBef>
                <a:spcPts val="0"/>
              </a:spcBef>
              <a:spcAft>
                <a:spcPts val="0"/>
              </a:spcAft>
              <a:buSzPts val="22000"/>
              <a:buNone/>
              <a:defRPr sz="22000"/>
            </a:lvl4pPr>
            <a:lvl5pPr lvl="4">
              <a:spcBef>
                <a:spcPts val="0"/>
              </a:spcBef>
              <a:spcAft>
                <a:spcPts val="0"/>
              </a:spcAft>
              <a:buSzPts val="22000"/>
              <a:buNone/>
              <a:defRPr sz="22000"/>
            </a:lvl5pPr>
            <a:lvl6pPr lvl="5">
              <a:spcBef>
                <a:spcPts val="0"/>
              </a:spcBef>
              <a:spcAft>
                <a:spcPts val="0"/>
              </a:spcAft>
              <a:buSzPts val="22000"/>
              <a:buNone/>
              <a:defRPr sz="22000"/>
            </a:lvl6pPr>
            <a:lvl7pPr lvl="6">
              <a:spcBef>
                <a:spcPts val="0"/>
              </a:spcBef>
              <a:spcAft>
                <a:spcPts val="0"/>
              </a:spcAft>
              <a:buSzPts val="22000"/>
              <a:buNone/>
              <a:defRPr sz="22000"/>
            </a:lvl7pPr>
            <a:lvl8pPr lvl="7">
              <a:spcBef>
                <a:spcPts val="0"/>
              </a:spcBef>
              <a:spcAft>
                <a:spcPts val="0"/>
              </a:spcAft>
              <a:buSzPts val="22000"/>
              <a:buNone/>
              <a:defRPr sz="22000"/>
            </a:lvl8pPr>
            <a:lvl9pPr lvl="8">
              <a:spcBef>
                <a:spcPts val="0"/>
              </a:spcBef>
              <a:spcAft>
                <a:spcPts val="0"/>
              </a:spcAft>
              <a:buSzPts val="22000"/>
              <a:buNone/>
              <a:defRPr sz="220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35002497" y="25686451"/>
            <a:ext cx="2268802" cy="2169000"/>
          </a:xfrm>
          <a:prstGeom prst="rect">
            <a:avLst/>
          </a:prstGeom>
        </p:spPr>
        <p:txBody>
          <a:bodyPr spcFirstLastPara="1" wrap="square" lIns="421750" tIns="421750" rIns="421750" bIns="421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8888429" y="-689"/>
            <a:ext cx="18888429" cy="2833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421750" tIns="421750" rIns="421750" bIns="4217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1096867" y="6792712"/>
            <a:ext cx="16711878" cy="8163000"/>
          </a:xfrm>
          <a:prstGeom prst="rect">
            <a:avLst/>
          </a:prstGeom>
        </p:spPr>
        <p:txBody>
          <a:bodyPr spcFirstLastPara="1" wrap="square" lIns="421750" tIns="421750" rIns="421750" bIns="4217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000"/>
              <a:buNone/>
              <a:defRPr sz="1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9000"/>
              <a:buNone/>
              <a:defRPr sz="19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9000"/>
              <a:buNone/>
              <a:defRPr sz="19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9000"/>
              <a:buNone/>
              <a:defRPr sz="19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9000"/>
              <a:buNone/>
              <a:defRPr sz="19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9000"/>
              <a:buNone/>
              <a:defRPr sz="19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9000"/>
              <a:buNone/>
              <a:defRPr sz="19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9000"/>
              <a:buNone/>
              <a:defRPr sz="19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9000"/>
              <a:buNone/>
              <a:defRPr sz="190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1096867" y="15440210"/>
            <a:ext cx="16711878" cy="6804000"/>
          </a:xfrm>
          <a:prstGeom prst="rect">
            <a:avLst/>
          </a:prstGeom>
        </p:spPr>
        <p:txBody>
          <a:bodyPr spcFirstLastPara="1" wrap="square" lIns="421750" tIns="421750" rIns="421750" bIns="4217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20406692" y="3988431"/>
            <a:ext cx="15852789" cy="20355000"/>
          </a:xfrm>
          <a:prstGeom prst="rect">
            <a:avLst/>
          </a:prstGeom>
        </p:spPr>
        <p:txBody>
          <a:bodyPr spcFirstLastPara="1" wrap="square" lIns="421750" tIns="421750" rIns="421750" bIns="421750" anchor="ctr" anchorCtr="0">
            <a:normAutofit/>
          </a:bodyPr>
          <a:lstStyle>
            <a:lvl1pPr marL="457200" lvl="0" indent="-736600">
              <a:spcBef>
                <a:spcPts val="0"/>
              </a:spcBef>
              <a:spcAft>
                <a:spcPts val="0"/>
              </a:spcAft>
              <a:buSzPts val="8000"/>
              <a:buChar char="●"/>
              <a:defRPr/>
            </a:lvl1pPr>
            <a:lvl2pPr marL="914400" lvl="1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/>
            </a:lvl2pPr>
            <a:lvl3pPr marL="1371600" lvl="2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/>
            </a:lvl3pPr>
            <a:lvl4pPr marL="1828800" lvl="3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/>
            </a:lvl4pPr>
            <a:lvl5pPr marL="2286000" lvl="4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/>
            </a:lvl5pPr>
            <a:lvl6pPr marL="2743200" lvl="5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/>
            </a:lvl6pPr>
            <a:lvl7pPr marL="3200400" lvl="6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/>
            </a:lvl7pPr>
            <a:lvl8pPr marL="3657600" lvl="7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/>
            </a:lvl8pPr>
            <a:lvl9pPr marL="4114800" lvl="8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35002497" y="25686451"/>
            <a:ext cx="2268802" cy="2169000"/>
          </a:xfrm>
          <a:prstGeom prst="rect">
            <a:avLst/>
          </a:prstGeom>
        </p:spPr>
        <p:txBody>
          <a:bodyPr spcFirstLastPara="1" wrap="square" lIns="421750" tIns="421750" rIns="421750" bIns="421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1287735" y="23303325"/>
            <a:ext cx="24783856" cy="3333000"/>
          </a:xfrm>
          <a:prstGeom prst="rect">
            <a:avLst/>
          </a:prstGeom>
        </p:spPr>
        <p:txBody>
          <a:bodyPr spcFirstLastPara="1" wrap="square" lIns="421750" tIns="421750" rIns="421750" bIns="42175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35002497" y="25686451"/>
            <a:ext cx="2268802" cy="2169000"/>
          </a:xfrm>
          <a:prstGeom prst="rect">
            <a:avLst/>
          </a:prstGeom>
        </p:spPr>
        <p:txBody>
          <a:bodyPr spcFirstLastPara="1" wrap="square" lIns="421750" tIns="421750" rIns="421750" bIns="421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1287735" y="6092881"/>
            <a:ext cx="35199591" cy="10815000"/>
          </a:xfrm>
          <a:prstGeom prst="rect">
            <a:avLst/>
          </a:prstGeom>
        </p:spPr>
        <p:txBody>
          <a:bodyPr spcFirstLastPara="1" wrap="square" lIns="421750" tIns="421750" rIns="421750" bIns="4217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5000"/>
              <a:buNone/>
              <a:defRPr sz="5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5000"/>
              <a:buNone/>
              <a:defRPr sz="5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5000"/>
              <a:buNone/>
              <a:defRPr sz="5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5000"/>
              <a:buNone/>
              <a:defRPr sz="5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5000"/>
              <a:buNone/>
              <a:defRPr sz="5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5000"/>
              <a:buNone/>
              <a:defRPr sz="5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5000"/>
              <a:buNone/>
              <a:defRPr sz="5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5000"/>
              <a:buNone/>
              <a:defRPr sz="5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5000"/>
              <a:buNone/>
              <a:defRPr sz="55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1287735" y="17363437"/>
            <a:ext cx="35199591" cy="7164000"/>
          </a:xfrm>
          <a:prstGeom prst="rect">
            <a:avLst/>
          </a:prstGeom>
        </p:spPr>
        <p:txBody>
          <a:bodyPr spcFirstLastPara="1" wrap="square" lIns="421750" tIns="421750" rIns="421750" bIns="421750" anchor="t" anchorCtr="0">
            <a:normAutofit/>
          </a:bodyPr>
          <a:lstStyle>
            <a:lvl1pPr marL="457200" lvl="0" indent="-736600" algn="ctr">
              <a:spcBef>
                <a:spcPts val="0"/>
              </a:spcBef>
              <a:spcAft>
                <a:spcPts val="0"/>
              </a:spcAft>
              <a:buSzPts val="8000"/>
              <a:buChar char="●"/>
              <a:defRPr/>
            </a:lvl1pPr>
            <a:lvl2pPr marL="914400" lvl="1" indent="-609600" algn="ctr">
              <a:spcBef>
                <a:spcPts val="0"/>
              </a:spcBef>
              <a:spcAft>
                <a:spcPts val="0"/>
              </a:spcAft>
              <a:buSzPts val="6000"/>
              <a:buChar char="○"/>
              <a:defRPr/>
            </a:lvl2pPr>
            <a:lvl3pPr marL="1371600" lvl="2" indent="-609600" algn="ctr">
              <a:spcBef>
                <a:spcPts val="0"/>
              </a:spcBef>
              <a:spcAft>
                <a:spcPts val="0"/>
              </a:spcAft>
              <a:buSzPts val="6000"/>
              <a:buChar char="■"/>
              <a:defRPr/>
            </a:lvl3pPr>
            <a:lvl4pPr marL="1828800" lvl="3" indent="-609600" algn="ctr">
              <a:spcBef>
                <a:spcPts val="0"/>
              </a:spcBef>
              <a:spcAft>
                <a:spcPts val="0"/>
              </a:spcAft>
              <a:buSzPts val="6000"/>
              <a:buChar char="●"/>
              <a:defRPr/>
            </a:lvl4pPr>
            <a:lvl5pPr marL="2286000" lvl="4" indent="-609600" algn="ctr">
              <a:spcBef>
                <a:spcPts val="0"/>
              </a:spcBef>
              <a:spcAft>
                <a:spcPts val="0"/>
              </a:spcAft>
              <a:buSzPts val="6000"/>
              <a:buChar char="○"/>
              <a:defRPr/>
            </a:lvl5pPr>
            <a:lvl6pPr marL="2743200" lvl="5" indent="-609600" algn="ctr">
              <a:spcBef>
                <a:spcPts val="0"/>
              </a:spcBef>
              <a:spcAft>
                <a:spcPts val="0"/>
              </a:spcAft>
              <a:buSzPts val="6000"/>
              <a:buChar char="■"/>
              <a:defRPr/>
            </a:lvl6pPr>
            <a:lvl7pPr marL="3200400" lvl="6" indent="-609600" algn="ctr">
              <a:spcBef>
                <a:spcPts val="0"/>
              </a:spcBef>
              <a:spcAft>
                <a:spcPts val="0"/>
              </a:spcAft>
              <a:buSzPts val="6000"/>
              <a:buChar char="●"/>
              <a:defRPr/>
            </a:lvl7pPr>
            <a:lvl8pPr marL="3657600" lvl="7" indent="-609600" algn="ctr">
              <a:spcBef>
                <a:spcPts val="0"/>
              </a:spcBef>
              <a:spcAft>
                <a:spcPts val="0"/>
              </a:spcAft>
              <a:buSzPts val="6000"/>
              <a:buChar char="○"/>
              <a:defRPr/>
            </a:lvl8pPr>
            <a:lvl9pPr marL="4114800" lvl="8" indent="-609600" algn="ctr">
              <a:spcBef>
                <a:spcPts val="0"/>
              </a:spcBef>
              <a:spcAft>
                <a:spcPts val="0"/>
              </a:spcAft>
              <a:buSzPts val="60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35002497" y="25686451"/>
            <a:ext cx="2268802" cy="2169000"/>
          </a:xfrm>
          <a:prstGeom prst="rect">
            <a:avLst/>
          </a:prstGeom>
        </p:spPr>
        <p:txBody>
          <a:bodyPr spcFirstLastPara="1" wrap="square" lIns="421750" tIns="421750" rIns="421750" bIns="421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35002497" y="25686451"/>
            <a:ext cx="2268802" cy="2169000"/>
          </a:xfrm>
          <a:prstGeom prst="rect">
            <a:avLst/>
          </a:prstGeom>
        </p:spPr>
        <p:txBody>
          <a:bodyPr spcFirstLastPara="1" wrap="square" lIns="421750" tIns="421750" rIns="421750" bIns="421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287735" y="2451336"/>
            <a:ext cx="35199591" cy="31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1750" tIns="421750" rIns="421750" bIns="4217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0"/>
              <a:buNone/>
              <a:defRPr sz="1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0"/>
              <a:buNone/>
              <a:defRPr sz="13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0"/>
              <a:buNone/>
              <a:defRPr sz="13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0"/>
              <a:buNone/>
              <a:defRPr sz="13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0"/>
              <a:buNone/>
              <a:defRPr sz="13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0"/>
              <a:buNone/>
              <a:defRPr sz="13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0"/>
              <a:buNone/>
              <a:defRPr sz="13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0"/>
              <a:buNone/>
              <a:defRPr sz="13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0"/>
              <a:buNone/>
              <a:defRPr sz="1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287735" y="6348191"/>
            <a:ext cx="35199591" cy="188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1750" tIns="421750" rIns="421750" bIns="421750" anchor="t" anchorCtr="0">
            <a:normAutofit/>
          </a:bodyPr>
          <a:lstStyle>
            <a:lvl1pPr marL="457200" lvl="0" indent="-736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Char char="●"/>
              <a:defRPr sz="8000">
                <a:solidFill>
                  <a:schemeClr val="dk2"/>
                </a:solidFill>
              </a:defRPr>
            </a:lvl1pPr>
            <a:lvl2pPr marL="914400" lvl="1" indent="-609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Char char="○"/>
              <a:defRPr sz="6000">
                <a:solidFill>
                  <a:schemeClr val="dk2"/>
                </a:solidFill>
              </a:defRPr>
            </a:lvl2pPr>
            <a:lvl3pPr marL="1371600" lvl="2" indent="-609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Char char="■"/>
              <a:defRPr sz="6000">
                <a:solidFill>
                  <a:schemeClr val="dk2"/>
                </a:solidFill>
              </a:defRPr>
            </a:lvl3pPr>
            <a:lvl4pPr marL="1828800" lvl="3" indent="-609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Char char="●"/>
              <a:defRPr sz="6000">
                <a:solidFill>
                  <a:schemeClr val="dk2"/>
                </a:solidFill>
              </a:defRPr>
            </a:lvl4pPr>
            <a:lvl5pPr marL="2286000" lvl="4" indent="-609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Char char="○"/>
              <a:defRPr sz="6000">
                <a:solidFill>
                  <a:schemeClr val="dk2"/>
                </a:solidFill>
              </a:defRPr>
            </a:lvl5pPr>
            <a:lvl6pPr marL="2743200" lvl="5" indent="-609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Char char="■"/>
              <a:defRPr sz="6000">
                <a:solidFill>
                  <a:schemeClr val="dk2"/>
                </a:solidFill>
              </a:defRPr>
            </a:lvl6pPr>
            <a:lvl7pPr marL="3200400" lvl="6" indent="-609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Char char="●"/>
              <a:defRPr sz="6000">
                <a:solidFill>
                  <a:schemeClr val="dk2"/>
                </a:solidFill>
              </a:defRPr>
            </a:lvl7pPr>
            <a:lvl8pPr marL="3657600" lvl="7" indent="-609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Char char="○"/>
              <a:defRPr sz="6000">
                <a:solidFill>
                  <a:schemeClr val="dk2"/>
                </a:solidFill>
              </a:defRPr>
            </a:lvl8pPr>
            <a:lvl9pPr marL="4114800" lvl="8" indent="-609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Char char="■"/>
              <a:defRPr sz="6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35002497" y="25686451"/>
            <a:ext cx="2268802" cy="21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1750" tIns="421750" rIns="421750" bIns="421750" anchor="ctr" anchorCtr="0">
            <a:normAutofit/>
          </a:bodyPr>
          <a:lstStyle>
            <a:lvl1pPr lvl="0" algn="r">
              <a:buNone/>
              <a:defRPr sz="5000">
                <a:solidFill>
                  <a:schemeClr val="dk2"/>
                </a:solidFill>
              </a:defRPr>
            </a:lvl1pPr>
            <a:lvl2pPr lvl="1" algn="r">
              <a:buNone/>
              <a:defRPr sz="5000">
                <a:solidFill>
                  <a:schemeClr val="dk2"/>
                </a:solidFill>
              </a:defRPr>
            </a:lvl2pPr>
            <a:lvl3pPr lvl="2" algn="r">
              <a:buNone/>
              <a:defRPr sz="5000">
                <a:solidFill>
                  <a:schemeClr val="dk2"/>
                </a:solidFill>
              </a:defRPr>
            </a:lvl3pPr>
            <a:lvl4pPr lvl="3" algn="r">
              <a:buNone/>
              <a:defRPr sz="5000">
                <a:solidFill>
                  <a:schemeClr val="dk2"/>
                </a:solidFill>
              </a:defRPr>
            </a:lvl4pPr>
            <a:lvl5pPr lvl="4" algn="r">
              <a:buNone/>
              <a:defRPr sz="5000">
                <a:solidFill>
                  <a:schemeClr val="dk2"/>
                </a:solidFill>
              </a:defRPr>
            </a:lvl5pPr>
            <a:lvl6pPr lvl="5" algn="r">
              <a:buNone/>
              <a:defRPr sz="5000">
                <a:solidFill>
                  <a:schemeClr val="dk2"/>
                </a:solidFill>
              </a:defRPr>
            </a:lvl6pPr>
            <a:lvl7pPr lvl="6" algn="r">
              <a:buNone/>
              <a:defRPr sz="5000">
                <a:solidFill>
                  <a:schemeClr val="dk2"/>
                </a:solidFill>
              </a:defRPr>
            </a:lvl7pPr>
            <a:lvl8pPr lvl="7" algn="r">
              <a:buNone/>
              <a:defRPr sz="5000">
                <a:solidFill>
                  <a:schemeClr val="dk2"/>
                </a:solidFill>
              </a:defRPr>
            </a:lvl8pPr>
            <a:lvl9pPr lvl="8" algn="r">
              <a:buNone/>
              <a:defRPr sz="5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0FA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544443" y="609952"/>
            <a:ext cx="36623209" cy="2770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115000"/>
              </a:lnSpc>
              <a:buClr>
                <a:schemeClr val="dk1"/>
              </a:buClr>
              <a:buSzPts val="11000"/>
            </a:pPr>
            <a:r>
              <a:rPr lang="en" sz="6400" b="1" dirty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Robust Unstructured Knowledge Access In Conversational Dialogue With ASR Errors</a:t>
            </a:r>
            <a:endParaRPr sz="6400" b="1" dirty="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algn="ctr">
              <a:lnSpc>
                <a:spcPct val="115000"/>
              </a:lnSpc>
            </a:pPr>
            <a:r>
              <a:rPr lang="en" sz="3700" dirty="0">
                <a:solidFill>
                  <a:schemeClr val="dk1"/>
                </a:solidFill>
                <a:latin typeface="Spectral ExtraLight"/>
                <a:ea typeface="Spectral ExtraLight"/>
                <a:cs typeface="Spectral ExtraLight"/>
                <a:sym typeface="Spectral ExtraLight"/>
              </a:rPr>
              <a:t>Yik-</a:t>
            </a:r>
            <a:r>
              <a:rPr lang="en-US" sz="3700" dirty="0">
                <a:solidFill>
                  <a:schemeClr val="dk1"/>
                </a:solidFill>
                <a:latin typeface="Spectral ExtraLight"/>
                <a:ea typeface="Spectral ExtraLight"/>
                <a:cs typeface="Spectral ExtraLight"/>
                <a:sym typeface="Spectral ExtraLight"/>
              </a:rPr>
              <a:t>C</a:t>
            </a:r>
            <a:r>
              <a:rPr lang="en" sz="3700" dirty="0">
                <a:solidFill>
                  <a:schemeClr val="dk1"/>
                </a:solidFill>
                <a:latin typeface="Spectral ExtraLight"/>
                <a:ea typeface="Spectral ExtraLight"/>
                <a:cs typeface="Spectral ExtraLight"/>
                <a:sym typeface="Spectral ExtraLight"/>
              </a:rPr>
              <a:t>heung Tam, Jiacheng Xu, Seeger Zou, Zecheng Wang, Tinglong Liao, Shuhan Yuan</a:t>
            </a:r>
          </a:p>
          <a:p>
            <a:pPr lvl="0" algn="ctr">
              <a:lnSpc>
                <a:spcPct val="115000"/>
              </a:lnSpc>
            </a:pPr>
            <a:r>
              <a:rPr lang="en" sz="3700" dirty="0">
                <a:solidFill>
                  <a:schemeClr val="dk1"/>
                </a:solidFill>
                <a:latin typeface="Spectral ExtraLight"/>
                <a:ea typeface="Spectral ExtraLight"/>
                <a:cs typeface="Spectral ExtraLight"/>
                <a:sym typeface="Spectral ExtraLight"/>
              </a:rPr>
              <a:t>{</a:t>
            </a:r>
            <a:r>
              <a:rPr lang="en-US" sz="3700" dirty="0">
                <a:solidFill>
                  <a:schemeClr val="dk1"/>
                </a:solidFill>
                <a:latin typeface="Spectral ExtraLight"/>
                <a:ea typeface="Spectral ExtraLight"/>
                <a:cs typeface="Spectral ExtraLight"/>
                <a:sym typeface="Spectral ExtraLight"/>
              </a:rPr>
              <a:t>yt2267, jx1038, jz3714, zw2374, tl2564, sy2448}@nyu.edu</a:t>
            </a:r>
            <a:r>
              <a:rPr lang="en" sz="3700" dirty="0">
                <a:solidFill>
                  <a:schemeClr val="dk1"/>
                </a:solidFill>
                <a:latin typeface="Spectral ExtraLight"/>
                <a:ea typeface="Spectral ExtraLight"/>
                <a:cs typeface="Spectral ExtraLight"/>
                <a:sym typeface="Spectral ExtraLight"/>
              </a:rPr>
              <a:t> </a:t>
            </a:r>
            <a:endParaRPr sz="13700" dirty="0">
              <a:latin typeface="Spectral ExtraLight"/>
              <a:ea typeface="Spectral ExtraLight"/>
              <a:cs typeface="Spectral ExtraLight"/>
              <a:sym typeface="Spectral ExtraLight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544444" y="3932789"/>
            <a:ext cx="9509034" cy="1647053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8" dist="19050" dir="828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250" tIns="914250" rIns="0" bIns="0" anchor="ctr" anchorCtr="0">
            <a:noAutofit/>
          </a:bodyPr>
          <a:lstStyle/>
          <a:p>
            <a:endParaRPr sz="3000"/>
          </a:p>
        </p:txBody>
      </p:sp>
      <p:sp>
        <p:nvSpPr>
          <p:cNvPr id="56" name="Google Shape;56;p13"/>
          <p:cNvSpPr/>
          <p:nvPr/>
        </p:nvSpPr>
        <p:spPr>
          <a:xfrm>
            <a:off x="544444" y="20758585"/>
            <a:ext cx="9509034" cy="690579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5000"/>
              </a:lnSpc>
            </a:pPr>
            <a:endParaRPr sz="3000">
              <a:solidFill>
                <a:schemeClr val="dk1"/>
              </a:solidFill>
            </a:endParaRPr>
          </a:p>
          <a:p>
            <a:endParaRPr sz="3000"/>
          </a:p>
        </p:txBody>
      </p:sp>
      <p:sp>
        <p:nvSpPr>
          <p:cNvPr id="57" name="Google Shape;57;p13"/>
          <p:cNvSpPr/>
          <p:nvPr/>
        </p:nvSpPr>
        <p:spPr>
          <a:xfrm>
            <a:off x="26784380" y="3932789"/>
            <a:ext cx="10384286" cy="1226349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0" tIns="914250" rIns="914250" bIns="914250" anchor="ctr" anchorCtr="0">
            <a:noAutofit/>
          </a:bodyPr>
          <a:lstStyle/>
          <a:p>
            <a:endParaRPr sz="3000"/>
          </a:p>
        </p:txBody>
      </p:sp>
      <p:sp>
        <p:nvSpPr>
          <p:cNvPr id="58" name="Google Shape;58;p13"/>
          <p:cNvSpPr/>
          <p:nvPr/>
        </p:nvSpPr>
        <p:spPr>
          <a:xfrm>
            <a:off x="10483194" y="3932790"/>
            <a:ext cx="15871470" cy="2373158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0" tIns="914250" rIns="914250" bIns="914250" anchor="t" anchorCtr="0">
            <a:noAutofit/>
          </a:bodyPr>
          <a:lstStyle/>
          <a:p>
            <a:pPr>
              <a:lnSpc>
                <a:spcPct val="115000"/>
              </a:lnSpc>
            </a:pPr>
            <a:endParaRPr sz="5000">
              <a:solidFill>
                <a:srgbClr val="6045A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endParaRPr sz="3000"/>
          </a:p>
        </p:txBody>
      </p:sp>
      <p:sp>
        <p:nvSpPr>
          <p:cNvPr id="60" name="Google Shape;60;p13"/>
          <p:cNvSpPr/>
          <p:nvPr/>
        </p:nvSpPr>
        <p:spPr>
          <a:xfrm>
            <a:off x="26783368" y="16520857"/>
            <a:ext cx="10384284" cy="919945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0" tIns="914250" rIns="914250" bIns="914250" anchor="ctr" anchorCtr="0">
            <a:noAutofit/>
          </a:bodyPr>
          <a:lstStyle/>
          <a:p>
            <a:endParaRPr sz="3000">
              <a:solidFill>
                <a:schemeClr val="dk1"/>
              </a:solidFill>
            </a:endParaRPr>
          </a:p>
          <a:p>
            <a:endParaRPr sz="3000"/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13804" y="25075589"/>
            <a:ext cx="11230769" cy="3510519"/>
          </a:xfrm>
          <a:prstGeom prst="rect">
            <a:avLst/>
          </a:prstGeom>
          <a:noFill/>
          <a:ln>
            <a:noFill/>
          </a:ln>
          <a:effectLst>
            <a:outerShdw blurRad="42863" dist="19050" dir="2820000" algn="bl" rotWithShape="0">
              <a:srgbClr val="000000">
                <a:alpha val="31000"/>
              </a:srgbClr>
            </a:outerShdw>
          </a:effectLst>
        </p:spPr>
      </p:pic>
      <p:sp>
        <p:nvSpPr>
          <p:cNvPr id="62" name="Google Shape;62;p13"/>
          <p:cNvSpPr txBox="1"/>
          <p:nvPr/>
        </p:nvSpPr>
        <p:spPr>
          <a:xfrm>
            <a:off x="26023804" y="3208594"/>
            <a:ext cx="10566900" cy="2654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0" tIns="914250" rIns="914250" bIns="914250" anchor="t" anchorCtr="0">
            <a:spAutoFit/>
          </a:bodyPr>
          <a:lstStyle/>
          <a:p>
            <a:r>
              <a:rPr lang="en" sz="5250" dirty="0">
                <a:solidFill>
                  <a:srgbClr val="6045A3"/>
                </a:solidFill>
                <a:latin typeface="+mj-lt"/>
                <a:ea typeface="Montserrat Black"/>
                <a:cs typeface="Montserrat Black"/>
                <a:sym typeface="Montserrat Black"/>
              </a:rPr>
              <a:t>4 </a:t>
            </a:r>
            <a:r>
              <a:rPr lang="en-US" sz="5250" dirty="0">
                <a:solidFill>
                  <a:srgbClr val="6045A3"/>
                </a:solidFill>
                <a:latin typeface="+mj-lt"/>
                <a:ea typeface="Montserrat Black"/>
                <a:cs typeface="Montserrat Black"/>
                <a:sym typeface="Montserrat Black"/>
              </a:rPr>
              <a:t>Results</a:t>
            </a:r>
          </a:p>
        </p:txBody>
      </p:sp>
      <p:pic>
        <p:nvPicPr>
          <p:cNvPr id="63" name="Google Shape;63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1206" y="22500105"/>
            <a:ext cx="8686163" cy="5232004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/>
        </p:nvSpPr>
        <p:spPr>
          <a:xfrm>
            <a:off x="-98956" y="3272527"/>
            <a:ext cx="7286319" cy="2654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0" tIns="914250" rIns="914250" bIns="914250" anchor="t" anchorCtr="0">
            <a:spAutoFit/>
          </a:bodyPr>
          <a:lstStyle/>
          <a:p>
            <a:r>
              <a:rPr lang="en" sz="5250" dirty="0">
                <a:solidFill>
                  <a:srgbClr val="6045A3"/>
                </a:solidFill>
                <a:latin typeface="+mj-lt"/>
                <a:ea typeface="Montserrat Black"/>
                <a:cs typeface="Montserrat Black"/>
                <a:sym typeface="Montserrat Black"/>
              </a:rPr>
              <a:t>1 </a:t>
            </a:r>
            <a:r>
              <a:rPr lang="en-US" sz="5250" dirty="0">
                <a:solidFill>
                  <a:srgbClr val="6045A3"/>
                </a:solidFill>
                <a:latin typeface="+mj-lt"/>
                <a:ea typeface="Montserrat Black"/>
                <a:cs typeface="Montserrat Black"/>
                <a:sym typeface="Montserrat Black"/>
              </a:rPr>
              <a:t>Background</a:t>
            </a:r>
            <a:endParaRPr sz="14000" dirty="0">
              <a:latin typeface="+mj-lt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-116631" y="19941392"/>
            <a:ext cx="9654000" cy="2654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0" tIns="914250" rIns="914250" bIns="914250" anchor="t" anchorCtr="0">
            <a:spAutoFit/>
          </a:bodyPr>
          <a:lstStyle/>
          <a:p>
            <a:pPr>
              <a:buClr>
                <a:schemeClr val="dk1"/>
              </a:buClr>
              <a:buSzPts val="11000"/>
            </a:pPr>
            <a:r>
              <a:rPr lang="en" sz="5250" dirty="0">
                <a:solidFill>
                  <a:srgbClr val="6045A3"/>
                </a:solidFill>
                <a:latin typeface="+mj-lt"/>
                <a:ea typeface="Montserrat Black"/>
                <a:cs typeface="Montserrat Black"/>
                <a:sym typeface="Montserrat Black"/>
              </a:rPr>
              <a:t>2 </a:t>
            </a:r>
            <a:r>
              <a:rPr lang="en-US" sz="5250" dirty="0">
                <a:solidFill>
                  <a:srgbClr val="6045A3"/>
                </a:solidFill>
                <a:latin typeface="+mj-lt"/>
                <a:ea typeface="Montserrat Black"/>
                <a:cs typeface="Montserrat Black"/>
                <a:sym typeface="Montserrat Black"/>
              </a:rPr>
              <a:t>Task overview</a:t>
            </a:r>
            <a:endParaRPr sz="5250" dirty="0">
              <a:solidFill>
                <a:srgbClr val="6045A3"/>
              </a:solidFill>
              <a:latin typeface="+mj-lt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26618778" y="15572399"/>
            <a:ext cx="10581407" cy="2654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0" tIns="914250" rIns="457000" bIns="914250" anchor="t" anchorCtr="0">
            <a:spAutoFit/>
          </a:bodyPr>
          <a:lstStyle/>
          <a:p>
            <a:r>
              <a:rPr lang="en" sz="5250" dirty="0">
                <a:solidFill>
                  <a:srgbClr val="6045A3"/>
                </a:solidFill>
                <a:latin typeface="+mj-lt"/>
                <a:ea typeface="Montserrat Black"/>
                <a:cs typeface="Montserrat Black"/>
                <a:sym typeface="Montserrat Black"/>
              </a:rPr>
              <a:t>5 </a:t>
            </a:r>
            <a:r>
              <a:rPr lang="en-US" sz="5250" dirty="0">
                <a:solidFill>
                  <a:srgbClr val="6045A3"/>
                </a:solidFill>
                <a:latin typeface="+mj-lt"/>
                <a:ea typeface="Montserrat Black"/>
                <a:cs typeface="Montserrat Black"/>
                <a:sym typeface="Montserrat Black"/>
              </a:rPr>
              <a:t>Discussion &amp; Future work</a:t>
            </a:r>
          </a:p>
        </p:txBody>
      </p:sp>
      <p:sp>
        <p:nvSpPr>
          <p:cNvPr id="69" name="Google Shape;69;p13"/>
          <p:cNvSpPr txBox="1"/>
          <p:nvPr/>
        </p:nvSpPr>
        <p:spPr>
          <a:xfrm>
            <a:off x="9709588" y="3179179"/>
            <a:ext cx="10566900" cy="277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0" tIns="914250" rIns="914250" bIns="914250" anchor="t" anchorCtr="0">
            <a:sp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11000"/>
            </a:pPr>
            <a:r>
              <a:rPr lang="en" sz="5250" dirty="0">
                <a:solidFill>
                  <a:srgbClr val="6045A3"/>
                </a:solidFill>
                <a:latin typeface="+mj-lt"/>
                <a:ea typeface="Montserrat Black"/>
                <a:cs typeface="Montserrat Black"/>
                <a:sym typeface="Montserrat Black"/>
              </a:rPr>
              <a:t>3 </a:t>
            </a:r>
            <a:r>
              <a:rPr lang="en-US" sz="5250" dirty="0">
                <a:solidFill>
                  <a:srgbClr val="6045A3"/>
                </a:solidFill>
                <a:latin typeface="+mj-lt"/>
                <a:ea typeface="Montserrat Black"/>
                <a:cs typeface="Montserrat Black"/>
                <a:sym typeface="Montserrat Black"/>
              </a:rPr>
              <a:t>ASR error simulator</a:t>
            </a:r>
            <a:endParaRPr sz="5250" dirty="0">
              <a:latin typeface="+mj-lt"/>
            </a:endParaRPr>
          </a:p>
        </p:txBody>
      </p:sp>
      <p:sp>
        <p:nvSpPr>
          <p:cNvPr id="28" name="Text Box 153">
            <a:extLst>
              <a:ext uri="{FF2B5EF4-FFF2-40B4-BE49-F238E27FC236}">
                <a16:creationId xmlns:a16="http://schemas.microsoft.com/office/drawing/2014/main" id="{5102642D-0A49-4F3C-98C2-CDAB9CC7D6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951" y="5206897"/>
            <a:ext cx="9230240" cy="15577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TW" sz="4375" b="0" dirty="0"/>
              <a:t>Performance of spoken language understanding (SLU) can be degraded with automatic speech recognition </a:t>
            </a:r>
            <a:r>
              <a:rPr lang="en-US" altLang="zh-TW" sz="4375" dirty="0"/>
              <a:t>(ASR) </a:t>
            </a:r>
            <a:r>
              <a:rPr lang="en-US" altLang="zh-TW" sz="4375" b="0" dirty="0"/>
              <a:t>errors.</a:t>
            </a:r>
          </a:p>
          <a:p>
            <a:endParaRPr lang="en-US" altLang="zh-TW" sz="4375" b="0" dirty="0"/>
          </a:p>
          <a:p>
            <a:r>
              <a:rPr lang="en-US" altLang="zh-TW" sz="4375" dirty="0"/>
              <a:t>Proposal: </a:t>
            </a:r>
          </a:p>
          <a:p>
            <a:r>
              <a:rPr lang="en-US" altLang="zh-TW" sz="4375" dirty="0"/>
              <a:t>1. Use ASR error simulator</a:t>
            </a:r>
            <a:endParaRPr lang="en-US" altLang="zh-TW" sz="4375" b="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TW" sz="4375" dirty="0"/>
              <a:t>Corrupt clean data randomly</a:t>
            </a:r>
            <a:r>
              <a:rPr lang="en-US" altLang="zh-TW" sz="4375" b="0" dirty="0"/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TW" sz="4375" b="0" dirty="0"/>
              <a:t>Correct errors &amp; classify jointly</a:t>
            </a:r>
          </a:p>
          <a:p>
            <a:endParaRPr lang="en-US" altLang="zh-TW" sz="4375" b="0" dirty="0"/>
          </a:p>
          <a:p>
            <a:r>
              <a:rPr lang="en-US" altLang="zh-TW" sz="4375" b="0" dirty="0"/>
              <a:t>2. Unsupervised knowledge clustering + knowledge reranking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TW" sz="4375" dirty="0"/>
              <a:t>12k knowledge titles =&gt; matching dialogue with all titles is costly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TW" sz="4375" b="0" dirty="0"/>
              <a:t>Entities share similar titles =&gt; group titles to form knowledge cluster (KC) =&gt; Fast recall of titles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TW" sz="4375" dirty="0"/>
          </a:p>
          <a:p>
            <a:r>
              <a:rPr lang="en-US" altLang="zh-TW" sz="4375" b="0" dirty="0"/>
              <a:t>Highlight: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TW" sz="4375" b="0" dirty="0"/>
              <a:t>Ranked 3 out of 16 teams’ best submissions in</a:t>
            </a:r>
            <a:r>
              <a:rPr lang="en-US" altLang="zh-TW" sz="4375" dirty="0"/>
              <a:t> knowledge selection (KS)</a:t>
            </a:r>
          </a:p>
          <a:p>
            <a:endParaRPr lang="en-US" altLang="zh-TW" sz="4375" b="0" dirty="0"/>
          </a:p>
        </p:txBody>
      </p:sp>
      <p:sp>
        <p:nvSpPr>
          <p:cNvPr id="29" name="Text Box 153">
            <a:extLst>
              <a:ext uri="{FF2B5EF4-FFF2-40B4-BE49-F238E27FC236}">
                <a16:creationId xmlns:a16="http://schemas.microsoft.com/office/drawing/2014/main" id="{775714C7-F485-4D45-8F75-F6B778D6A0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951" y="21627860"/>
            <a:ext cx="10566900" cy="765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TW" sz="4375" b="0" dirty="0"/>
              <a:t>Knowledge access under ASR errors</a:t>
            </a:r>
          </a:p>
        </p:txBody>
      </p:sp>
      <p:sp>
        <p:nvSpPr>
          <p:cNvPr id="30" name="Text Box 153">
            <a:extLst>
              <a:ext uri="{FF2B5EF4-FFF2-40B4-BE49-F238E27FC236}">
                <a16:creationId xmlns:a16="http://schemas.microsoft.com/office/drawing/2014/main" id="{8025BC5B-1250-49CC-A332-81A74EDF6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4268" y="5206897"/>
            <a:ext cx="15603775" cy="7498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TW" sz="4375" dirty="0"/>
              <a:t>No human transcriptions required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TW" sz="4375" dirty="0"/>
              <a:t>Leverage confusion networks from ASR output to generate all possible confusion word pairs:</a:t>
            </a:r>
          </a:p>
          <a:p>
            <a:r>
              <a:rPr lang="en-US" altLang="zh-TW" sz="4375" dirty="0"/>
              <a:t>   Ok do they (delver | deliver | </a:t>
            </a:r>
            <a:r>
              <a:rPr lang="en-US" altLang="zh-TW" sz="4375" dirty="0" err="1"/>
              <a:t>delo</a:t>
            </a:r>
            <a:r>
              <a:rPr lang="en-US" altLang="zh-TW" sz="4375" dirty="0"/>
              <a:t> | over | lover | del | </a:t>
            </a:r>
            <a:r>
              <a:rPr lang="en-US" altLang="zh-TW" sz="4375" dirty="0" err="1"/>
              <a:t>dolo</a:t>
            </a:r>
            <a:r>
              <a:rPr lang="en-US" altLang="zh-TW" sz="4375" dirty="0"/>
              <a:t>) =&gt; delver-deliver, delver-</a:t>
            </a:r>
            <a:r>
              <a:rPr lang="en-US" altLang="zh-TW" sz="4375" dirty="0" err="1"/>
              <a:t>delo</a:t>
            </a:r>
            <a:r>
              <a:rPr lang="en-US" altLang="zh-TW" sz="4375" dirty="0"/>
              <a:t>, … del-</a:t>
            </a:r>
            <a:r>
              <a:rPr lang="en-US" altLang="zh-TW" sz="4375" dirty="0" err="1"/>
              <a:t>dolo</a:t>
            </a:r>
            <a:endParaRPr lang="en-US" altLang="zh-TW" sz="4375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TW" sz="4375" dirty="0"/>
              <a:t>Perform letter-to-letter alignment between each word pair:</a:t>
            </a:r>
          </a:p>
          <a:p>
            <a:r>
              <a:rPr lang="en-US" altLang="zh-TW" sz="4375" dirty="0"/>
              <a:t>    d e l </a:t>
            </a:r>
            <a:r>
              <a:rPr lang="en-US" altLang="zh-TW" sz="4375" dirty="0">
                <a:solidFill>
                  <a:srgbClr val="FF0000"/>
                </a:solidFill>
              </a:rPr>
              <a:t>*</a:t>
            </a:r>
            <a:r>
              <a:rPr lang="en-US" altLang="zh-TW" sz="4375" dirty="0"/>
              <a:t> v e r</a:t>
            </a:r>
          </a:p>
          <a:p>
            <a:r>
              <a:rPr lang="en-US" altLang="zh-TW" sz="4375" dirty="0"/>
              <a:t>    d e l </a:t>
            </a:r>
            <a:r>
              <a:rPr lang="en-US" altLang="zh-TW" sz="4375" dirty="0" err="1">
                <a:solidFill>
                  <a:srgbClr val="FF0000"/>
                </a:solidFill>
              </a:rPr>
              <a:t>i</a:t>
            </a:r>
            <a:r>
              <a:rPr lang="en-US" altLang="zh-TW" sz="4375" dirty="0"/>
              <a:t>  v e 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TW" sz="4375" dirty="0"/>
              <a:t>Estimate letter-rewriting probs: P(t | s, </a:t>
            </a:r>
            <a:r>
              <a:rPr lang="en-US" altLang="zh-TW" sz="4375" dirty="0" err="1"/>
              <a:t>i</a:t>
            </a:r>
            <a:r>
              <a:rPr lang="en-US" altLang="zh-TW" sz="4375" dirty="0"/>
              <a:t>) at position </a:t>
            </a:r>
            <a:r>
              <a:rPr lang="en-US" altLang="zh-TW" sz="4375" dirty="0" err="1"/>
              <a:t>i</a:t>
            </a:r>
            <a:endParaRPr lang="en-US" altLang="zh-TW" sz="4375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TW" sz="4375" dirty="0"/>
              <a:t>Given a clean word, an erroneous word is generated by replacing/inserting letters randomly (see paper for detail)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0A09E4-10FF-4EA2-B0D0-5FE5EBA591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6427" y="12700332"/>
            <a:ext cx="9500016" cy="2108175"/>
          </a:xfrm>
          <a:prstGeom prst="rect">
            <a:avLst/>
          </a:prstGeom>
        </p:spPr>
      </p:pic>
      <p:sp>
        <p:nvSpPr>
          <p:cNvPr id="35" name="Google Shape;69;p13">
            <a:extLst>
              <a:ext uri="{FF2B5EF4-FFF2-40B4-BE49-F238E27FC236}">
                <a16:creationId xmlns:a16="http://schemas.microsoft.com/office/drawing/2014/main" id="{A8834E3C-095B-4B0E-B6D3-E377F4FDF57C}"/>
              </a:ext>
            </a:extLst>
          </p:cNvPr>
          <p:cNvSpPr txBox="1"/>
          <p:nvPr/>
        </p:nvSpPr>
        <p:spPr>
          <a:xfrm>
            <a:off x="9777771" y="14067563"/>
            <a:ext cx="16008966" cy="277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0" tIns="914250" rIns="914250" bIns="914250" anchor="t" anchorCtr="0">
            <a:sp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11000"/>
            </a:pPr>
            <a:r>
              <a:rPr lang="en" sz="5250" dirty="0">
                <a:solidFill>
                  <a:srgbClr val="6045A3"/>
                </a:solidFill>
                <a:latin typeface="+mj-lt"/>
                <a:ea typeface="Montserrat Black"/>
                <a:cs typeface="Montserrat Black"/>
                <a:sym typeface="Montserrat Black"/>
              </a:rPr>
              <a:t>4 </a:t>
            </a:r>
            <a:r>
              <a:rPr lang="en-US" sz="5250" dirty="0">
                <a:solidFill>
                  <a:srgbClr val="6045A3"/>
                </a:solidFill>
                <a:latin typeface="+mj-lt"/>
                <a:ea typeface="Montserrat Black"/>
                <a:cs typeface="Montserrat Black"/>
                <a:sym typeface="Montserrat Black"/>
              </a:rPr>
              <a:t>Unsupervised knowledge clustering</a:t>
            </a:r>
            <a:endParaRPr sz="5250" dirty="0">
              <a:latin typeface="+mj-lt"/>
            </a:endParaRPr>
          </a:p>
        </p:txBody>
      </p:sp>
      <p:sp>
        <p:nvSpPr>
          <p:cNvPr id="36" name="Text Box 153">
            <a:extLst>
              <a:ext uri="{FF2B5EF4-FFF2-40B4-BE49-F238E27FC236}">
                <a16:creationId xmlns:a16="http://schemas.microsoft.com/office/drawing/2014/main" id="{D511EF7B-A897-414F-99C6-7F944D453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4268" y="15850540"/>
            <a:ext cx="15603775" cy="3458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TW" sz="4375" dirty="0"/>
              <a:t>Use 12k title-body pairs as +</a:t>
            </a:r>
            <a:r>
              <a:rPr lang="en-US" altLang="zh-TW" sz="4375" dirty="0" err="1"/>
              <a:t>ve</a:t>
            </a:r>
            <a:endParaRPr lang="en-US" altLang="zh-TW" sz="4375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TW" sz="4375" dirty="0"/>
              <a:t>Randomly generate unmatched title-body pairs as –</a:t>
            </a:r>
            <a:r>
              <a:rPr lang="en-US" altLang="zh-TW" sz="4375" dirty="0" err="1"/>
              <a:t>ve</a:t>
            </a:r>
            <a:endParaRPr lang="en-US" altLang="zh-TW" sz="4375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TW" sz="4375" dirty="0"/>
              <a:t>Train binary Bert classifier: [CLS] title [SEP] body [SEP]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TW" sz="4375" dirty="0"/>
              <a:t>Iteratively merge C</a:t>
            </a:r>
            <a:r>
              <a:rPr lang="en-US" altLang="zh-TW" sz="4375" baseline="-25000" dirty="0"/>
              <a:t>i</a:t>
            </a:r>
            <a:r>
              <a:rPr lang="en-US" altLang="zh-TW" sz="4375" dirty="0"/>
              <a:t> and </a:t>
            </a:r>
            <a:r>
              <a:rPr lang="en-US" altLang="zh-TW" sz="4375" dirty="0" err="1"/>
              <a:t>C</a:t>
            </a:r>
            <a:r>
              <a:rPr lang="en-US" altLang="zh-TW" sz="4375" baseline="-25000" dirty="0" err="1"/>
              <a:t>j</a:t>
            </a:r>
            <a:r>
              <a:rPr lang="en-US" altLang="zh-TW" sz="4375" dirty="0"/>
              <a:t> if majority of cross title-body pairs are classified as +</a:t>
            </a:r>
            <a:r>
              <a:rPr lang="en-US" altLang="zh-TW" sz="4375" dirty="0" err="1"/>
              <a:t>ve</a:t>
            </a:r>
            <a:r>
              <a:rPr lang="en-US" altLang="zh-TW" sz="4375" dirty="0"/>
              <a:t> according to a threshold</a:t>
            </a:r>
          </a:p>
        </p:txBody>
      </p:sp>
      <p:sp>
        <p:nvSpPr>
          <p:cNvPr id="38" name="Google Shape;69;p13">
            <a:extLst>
              <a:ext uri="{FF2B5EF4-FFF2-40B4-BE49-F238E27FC236}">
                <a16:creationId xmlns:a16="http://schemas.microsoft.com/office/drawing/2014/main" id="{CA798E10-3CD6-4289-8D73-A88A2CAEE6E7}"/>
              </a:ext>
            </a:extLst>
          </p:cNvPr>
          <p:cNvSpPr txBox="1"/>
          <p:nvPr/>
        </p:nvSpPr>
        <p:spPr>
          <a:xfrm>
            <a:off x="9808444" y="18384431"/>
            <a:ext cx="16215360" cy="277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0" tIns="914250" rIns="914250" bIns="914250" anchor="t" anchorCtr="0">
            <a:sp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11000"/>
            </a:pPr>
            <a:r>
              <a:rPr lang="en" sz="5250" dirty="0">
                <a:solidFill>
                  <a:srgbClr val="6045A3"/>
                </a:solidFill>
                <a:latin typeface="+mj-lt"/>
                <a:ea typeface="Montserrat Black"/>
                <a:cs typeface="Montserrat Black"/>
                <a:sym typeface="Montserrat Black"/>
              </a:rPr>
              <a:t>5 </a:t>
            </a:r>
            <a:r>
              <a:rPr lang="en-US" sz="5250" dirty="0">
                <a:solidFill>
                  <a:srgbClr val="6045A3"/>
                </a:solidFill>
                <a:latin typeface="+mj-lt"/>
                <a:ea typeface="Montserrat Black"/>
                <a:cs typeface="Montserrat Black"/>
                <a:sym typeface="Montserrat Black"/>
              </a:rPr>
              <a:t>KC classification with self-correction</a:t>
            </a:r>
            <a:endParaRPr sz="5250" dirty="0">
              <a:latin typeface="+mj-lt"/>
            </a:endParaRPr>
          </a:p>
        </p:txBody>
      </p:sp>
      <p:sp>
        <p:nvSpPr>
          <p:cNvPr id="39" name="Text Box 153">
            <a:extLst>
              <a:ext uri="{FF2B5EF4-FFF2-40B4-BE49-F238E27FC236}">
                <a16:creationId xmlns:a16="http://schemas.microsoft.com/office/drawing/2014/main" id="{506783F5-7C7D-42C2-BC22-4BEB0665F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4268" y="20159339"/>
            <a:ext cx="15603775" cy="765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TW" sz="4375" dirty="0"/>
              <a:t>Bert with KC classification and language model heads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05F809-7003-4B92-8E61-6ACDA3F3DD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86427" y="21013737"/>
            <a:ext cx="8435697" cy="7655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3D55EB-EC83-4E47-9A69-3F4E84BC71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97928" y="21159888"/>
            <a:ext cx="4051287" cy="60430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66A91B-3AF1-4751-B50D-B105D4B524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42334" y="21980770"/>
            <a:ext cx="11631648" cy="5296639"/>
          </a:xfrm>
          <a:prstGeom prst="rect">
            <a:avLst/>
          </a:prstGeom>
        </p:spPr>
      </p:pic>
      <p:sp>
        <p:nvSpPr>
          <p:cNvPr id="43" name="Text Box 153">
            <a:extLst>
              <a:ext uri="{FF2B5EF4-FFF2-40B4-BE49-F238E27FC236}">
                <a16:creationId xmlns:a16="http://schemas.microsoft.com/office/drawing/2014/main" id="{94CFFE17-570C-4D07-8626-FEDACF336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29415" y="5206897"/>
            <a:ext cx="9780030" cy="21121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TW" sz="4375" dirty="0"/>
              <a:t>DSTC10 dev set split into 2 parts: 132/131 dialogues for train/test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TW" sz="4375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A5EF323-5EF2-4894-8F6B-0F5BEF7D14E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029414" y="6811765"/>
            <a:ext cx="5906324" cy="20576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ACDC56E-BA09-4167-AFCB-6767037B05D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024191" y="9065698"/>
            <a:ext cx="7125694" cy="26102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6DAABD3-2F4D-4290-8F91-98032B56D22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024191" y="11852157"/>
            <a:ext cx="6125430" cy="17909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5EB9F79-1163-44CD-87ED-B26919A0B26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024191" y="13792155"/>
            <a:ext cx="6887536" cy="2114845"/>
          </a:xfrm>
          <a:prstGeom prst="rect">
            <a:avLst/>
          </a:prstGeom>
        </p:spPr>
      </p:pic>
      <p:sp>
        <p:nvSpPr>
          <p:cNvPr id="53" name="Text Box 153">
            <a:extLst>
              <a:ext uri="{FF2B5EF4-FFF2-40B4-BE49-F238E27FC236}">
                <a16:creationId xmlns:a16="http://schemas.microsoft.com/office/drawing/2014/main" id="{2A615F57-CF84-4C6D-994A-968871511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62075" y="6949731"/>
            <a:ext cx="2845419" cy="765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TW" sz="4375" dirty="0"/>
              <a:t>KC test</a:t>
            </a:r>
          </a:p>
        </p:txBody>
      </p:sp>
      <p:sp>
        <p:nvSpPr>
          <p:cNvPr id="76" name="Text Box 153">
            <a:extLst>
              <a:ext uri="{FF2B5EF4-FFF2-40B4-BE49-F238E27FC236}">
                <a16:creationId xmlns:a16="http://schemas.microsoft.com/office/drawing/2014/main" id="{52EF5B68-9538-475F-A584-E7F68F37D3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36566" y="9661027"/>
            <a:ext cx="2845419" cy="765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TW" sz="4375" dirty="0"/>
              <a:t>KS test</a:t>
            </a:r>
          </a:p>
        </p:txBody>
      </p:sp>
      <p:sp>
        <p:nvSpPr>
          <p:cNvPr id="77" name="Text Box 153">
            <a:extLst>
              <a:ext uri="{FF2B5EF4-FFF2-40B4-BE49-F238E27FC236}">
                <a16:creationId xmlns:a16="http://schemas.microsoft.com/office/drawing/2014/main" id="{8F75C869-2B01-4E2D-99D2-12DE6A9665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44261" y="11866679"/>
            <a:ext cx="3255925" cy="1438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TW" sz="4375" dirty="0"/>
              <a:t>DSTC10-eval KTD</a:t>
            </a:r>
          </a:p>
        </p:txBody>
      </p:sp>
      <p:sp>
        <p:nvSpPr>
          <p:cNvPr id="78" name="Text Box 153">
            <a:extLst>
              <a:ext uri="{FF2B5EF4-FFF2-40B4-BE49-F238E27FC236}">
                <a16:creationId xmlns:a16="http://schemas.microsoft.com/office/drawing/2014/main" id="{0CDFE3FA-B2F2-4FC8-98FE-08BCB0F705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75781" y="14125488"/>
            <a:ext cx="3255925" cy="1438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TW" sz="4375" dirty="0"/>
              <a:t>DSTC10-eval KS</a:t>
            </a:r>
          </a:p>
        </p:txBody>
      </p:sp>
      <p:sp>
        <p:nvSpPr>
          <p:cNvPr id="81" name="Text Box 153">
            <a:extLst>
              <a:ext uri="{FF2B5EF4-FFF2-40B4-BE49-F238E27FC236}">
                <a16:creationId xmlns:a16="http://schemas.microsoft.com/office/drawing/2014/main" id="{F077CBD8-C517-407B-8839-2EED3AD87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19466" y="17302799"/>
            <a:ext cx="9780030" cy="61516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TW" sz="4375" dirty="0"/>
              <a:t>GPT2 / pointer-gen for generating ASR errors did not work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TW" sz="4375" dirty="0"/>
              <a:t>Error simulation based on word-confusion matrix did not work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TW" sz="4375" dirty="0"/>
              <a:t>Approach cannot deal with phonetic errors: “</a:t>
            </a:r>
            <a:r>
              <a:rPr lang="en-US" altLang="zh-TW" sz="4375" dirty="0" err="1"/>
              <a:t>kommen</a:t>
            </a:r>
            <a:r>
              <a:rPr lang="en-US" altLang="zh-TW" sz="4375" dirty="0"/>
              <a:t> </a:t>
            </a:r>
            <a:r>
              <a:rPr lang="en-US" altLang="zh-TW" sz="4375" dirty="0" err="1"/>
              <a:t>toor</a:t>
            </a:r>
            <a:r>
              <a:rPr lang="en-US" altLang="zh-TW" sz="4375" dirty="0"/>
              <a:t>” vs “</a:t>
            </a:r>
            <a:r>
              <a:rPr lang="en-US" altLang="zh-TW" sz="4375" dirty="0" err="1"/>
              <a:t>coit</a:t>
            </a:r>
            <a:r>
              <a:rPr lang="en-US" altLang="zh-TW" sz="4375" dirty="0"/>
              <a:t> tower”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TW" sz="4375" dirty="0"/>
              <a:t>Extend to other SLU tasks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TW" sz="4375" dirty="0"/>
              <a:t>Compare with other simulators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TW" sz="4375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2EFCAE-A8BC-4B83-82D1-7630EBA914DA}"/>
              </a:ext>
            </a:extLst>
          </p:cNvPr>
          <p:cNvSpPr/>
          <p:nvPr/>
        </p:nvSpPr>
        <p:spPr>
          <a:xfrm>
            <a:off x="17531774" y="14011375"/>
            <a:ext cx="27126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NimbusRomNo9L-Regu"/>
              </a:rPr>
              <a:t>“</a:t>
            </a:r>
            <a:r>
              <a:rPr lang="en-US" dirty="0" err="1">
                <a:latin typeface="NimbusRomNo9L-Regu"/>
              </a:rPr>
              <a:t>kommen</a:t>
            </a:r>
            <a:r>
              <a:rPr lang="en-US" dirty="0">
                <a:latin typeface="NimbusRomNo9L-Regu"/>
              </a:rPr>
              <a:t> </a:t>
            </a:r>
            <a:r>
              <a:rPr lang="en-US" dirty="0" err="1">
                <a:latin typeface="NimbusRomNo9L-Regu"/>
              </a:rPr>
              <a:t>toor</a:t>
            </a:r>
            <a:r>
              <a:rPr lang="en-US" dirty="0">
                <a:latin typeface="NimbusRomNo9L-Regu"/>
              </a:rPr>
              <a:t>” from “</a:t>
            </a:r>
            <a:r>
              <a:rPr lang="en-US" dirty="0" err="1">
                <a:latin typeface="NimbusRomNo9L-Regu"/>
              </a:rPr>
              <a:t>coit</a:t>
            </a:r>
            <a:r>
              <a:rPr lang="en-US" dirty="0">
                <a:latin typeface="NimbusRomNo9L-Regu"/>
              </a:rPr>
              <a:t> tower”.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24A3F9-B9E4-4D88-AC24-92D3640FDA50}"/>
              </a:ext>
            </a:extLst>
          </p:cNvPr>
          <p:cNvSpPr/>
          <p:nvPr/>
        </p:nvSpPr>
        <p:spPr>
          <a:xfrm>
            <a:off x="26980325" y="22870731"/>
            <a:ext cx="9944619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</a:rPr>
              <a:t>[1] Wang et al. 2020. ASR Error Correction with Augmented Transformer for Entity Retrieval. In Proceedings of </a:t>
            </a:r>
            <a:r>
              <a:rPr lang="en-US" sz="2400" dirty="0" err="1">
                <a:latin typeface="+mj-lt"/>
              </a:rPr>
              <a:t>Interspeech</a:t>
            </a:r>
            <a:r>
              <a:rPr lang="en-US" sz="2400" dirty="0">
                <a:latin typeface="+mj-lt"/>
              </a:rPr>
              <a:t>.</a:t>
            </a:r>
          </a:p>
          <a:p>
            <a:r>
              <a:rPr lang="en-US" sz="2400" dirty="0">
                <a:latin typeface="+mj-lt"/>
              </a:rPr>
              <a:t>[2] Weng et al. 2020. Joint contextual modeling for ASR correction and language understanding. In Proceedings of ICASSP), 6349–6353.</a:t>
            </a:r>
          </a:p>
          <a:p>
            <a:r>
              <a:rPr lang="fi-FI" sz="2400" dirty="0">
                <a:latin typeface="+mj-lt"/>
              </a:rPr>
              <a:t>[3] Kim et. al.</a:t>
            </a:r>
            <a:r>
              <a:rPr lang="en-US" sz="2400" dirty="0">
                <a:latin typeface="+mj-lt"/>
              </a:rPr>
              <a:t> 2022. DSTC10 Track Proposal: Knowledge-grounded Task-oriented Dialogue Modeling on Spoken Conversations. In DSTC10</a:t>
            </a:r>
          </a:p>
          <a:p>
            <a:r>
              <a:rPr lang="en-US" sz="2400" dirty="0">
                <a:latin typeface="+mj-lt"/>
              </a:rPr>
              <a:t>Workshop @ AAAI</a:t>
            </a:r>
          </a:p>
          <a:p>
            <a:endParaRPr lang="en-US" sz="2400" dirty="0">
              <a:latin typeface="+mj-lt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9B61271-F3EA-449F-8E73-0494F9C55E5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752346" y="12861188"/>
            <a:ext cx="4248743" cy="177189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4B9D0E5E-1930-4755-AE42-712801232437}"/>
              </a:ext>
            </a:extLst>
          </p:cNvPr>
          <p:cNvSpPr/>
          <p:nvPr/>
        </p:nvSpPr>
        <p:spPr>
          <a:xfrm>
            <a:off x="21752346" y="12747632"/>
            <a:ext cx="4237394" cy="2060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 Box 153">
            <a:extLst>
              <a:ext uri="{FF2B5EF4-FFF2-40B4-BE49-F238E27FC236}">
                <a16:creationId xmlns:a16="http://schemas.microsoft.com/office/drawing/2014/main" id="{06495F53-5B87-439E-BEEB-6A4C926EC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87886" y="25152934"/>
            <a:ext cx="1565592" cy="765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TW" sz="4375" dirty="0"/>
              <a:t>KB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647</TotalTime>
  <Words>484</Words>
  <Application>Microsoft Office PowerPoint</Application>
  <PresentationFormat>Custom</PresentationFormat>
  <Paragraphs>53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Montserrat Black</vt:lpstr>
      <vt:lpstr>Georgia</vt:lpstr>
      <vt:lpstr>Arial</vt:lpstr>
      <vt:lpstr>Spectral ExtraLight</vt:lpstr>
      <vt:lpstr>NimbusRomNo9L-Regu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Yik-Cheung Tam</cp:lastModifiedBy>
  <cp:revision>54</cp:revision>
  <dcterms:modified xsi:type="dcterms:W3CDTF">2022-02-10T06:21:39Z</dcterms:modified>
</cp:coreProperties>
</file>