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7776150" cy="28332113"/>
  <p:notesSz cx="6858000" cy="9144000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923" userDrawn="1">
          <p15:clr>
            <a:srgbClr val="A4A3A4"/>
          </p15:clr>
        </p15:guide>
        <p15:guide id="2" pos="118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>
      <p:cViewPr>
        <p:scale>
          <a:sx n="110" d="100"/>
          <a:sy n="110" d="100"/>
        </p:scale>
        <p:origin x="-14536" y="144"/>
      </p:cViewPr>
      <p:guideLst>
        <p:guide orient="horz" pos="8923"/>
        <p:guide pos="118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6992da395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35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6992da395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87769" y="4101351"/>
            <a:ext cx="35199591" cy="11307000"/>
          </a:xfrm>
          <a:prstGeom prst="rect">
            <a:avLst/>
          </a:prstGeom>
        </p:spPr>
        <p:txBody>
          <a:bodyPr spcFirstLastPara="1" wrap="square" lIns="421750" tIns="421750" rIns="421750" bIns="4217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87735" y="15611243"/>
            <a:ext cx="35199591" cy="4365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287735" y="11847552"/>
            <a:ext cx="35199591" cy="4638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287735" y="2451336"/>
            <a:ext cx="35199591" cy="3153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287735" y="6348191"/>
            <a:ext cx="16524493" cy="18819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marL="457200" lvl="0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9964227" y="6348191"/>
            <a:ext cx="16524493" cy="18819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marL="457200" lvl="0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287735" y="2451336"/>
            <a:ext cx="35199591" cy="3153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287735" y="3060418"/>
            <a:ext cx="11600586" cy="4161000"/>
          </a:xfrm>
          <a:prstGeom prst="rect">
            <a:avLst/>
          </a:prstGeom>
        </p:spPr>
        <p:txBody>
          <a:bodyPr spcFirstLastPara="1" wrap="square" lIns="421750" tIns="421750" rIns="421750" bIns="4217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1pPr>
            <a:lvl2pPr lvl="1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2pPr>
            <a:lvl3pPr lvl="2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3pPr>
            <a:lvl4pPr lvl="3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4pPr>
            <a:lvl5pPr lvl="4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5pPr>
            <a:lvl6pPr lvl="5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6pPr>
            <a:lvl7pPr lvl="6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7pPr>
            <a:lvl8pPr lvl="7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8pPr>
            <a:lvl9pPr lvl="8">
              <a:spcBef>
                <a:spcPts val="0"/>
              </a:spcBef>
              <a:spcAft>
                <a:spcPts val="0"/>
              </a:spcAft>
              <a:buSzPts val="11000"/>
              <a:buNone/>
              <a:defRPr sz="110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287735" y="7654350"/>
            <a:ext cx="11600586" cy="17514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marL="457200" lvl="0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2025384" y="2479566"/>
            <a:ext cx="26308883" cy="22533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1pPr>
            <a:lvl2pPr lvl="1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2pPr>
            <a:lvl3pPr lvl="2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3pPr>
            <a:lvl4pPr lvl="3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4pPr>
            <a:lvl5pPr lvl="4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5pPr>
            <a:lvl6pPr lvl="5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6pPr>
            <a:lvl7pPr lvl="6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7pPr>
            <a:lvl8pPr lvl="7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8pPr>
            <a:lvl9pPr lvl="8">
              <a:spcBef>
                <a:spcPts val="0"/>
              </a:spcBef>
              <a:spcAft>
                <a:spcPts val="0"/>
              </a:spcAft>
              <a:buSzPts val="22000"/>
              <a:buNone/>
              <a:defRPr sz="220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8888429" y="-689"/>
            <a:ext cx="18888429" cy="2833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21750" tIns="421750" rIns="421750" bIns="4217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096867" y="6792712"/>
            <a:ext cx="16711878" cy="8163000"/>
          </a:xfrm>
          <a:prstGeom prst="rect">
            <a:avLst/>
          </a:prstGeom>
        </p:spPr>
        <p:txBody>
          <a:bodyPr spcFirstLastPara="1" wrap="square" lIns="421750" tIns="421750" rIns="421750" bIns="4217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000"/>
              <a:buNone/>
              <a:defRPr sz="190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096867" y="15440210"/>
            <a:ext cx="16711878" cy="6804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20406692" y="3988431"/>
            <a:ext cx="15852789" cy="20355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marL="457200" lvl="0" indent="-736600">
              <a:spcBef>
                <a:spcPts val="0"/>
              </a:spcBef>
              <a:spcAft>
                <a:spcPts val="0"/>
              </a:spcAft>
              <a:buSzPts val="8000"/>
              <a:buChar char="●"/>
              <a:defRPr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287735" y="23303325"/>
            <a:ext cx="24783856" cy="3333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287735" y="6092881"/>
            <a:ext cx="35199591" cy="10815000"/>
          </a:xfrm>
          <a:prstGeom prst="rect">
            <a:avLst/>
          </a:prstGeom>
        </p:spPr>
        <p:txBody>
          <a:bodyPr spcFirstLastPara="1" wrap="square" lIns="421750" tIns="421750" rIns="421750" bIns="4217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5000"/>
              <a:buNone/>
              <a:defRPr sz="55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287735" y="17363437"/>
            <a:ext cx="35199591" cy="7164000"/>
          </a:xfrm>
          <a:prstGeom prst="rect">
            <a:avLst/>
          </a:prstGeom>
        </p:spPr>
        <p:txBody>
          <a:bodyPr spcFirstLastPara="1" wrap="square" lIns="421750" tIns="421750" rIns="421750" bIns="421750" anchor="t" anchorCtr="0">
            <a:normAutofit/>
          </a:bodyPr>
          <a:lstStyle>
            <a:lvl1pPr marL="457200" lvl="0" indent="-736600" algn="ctr">
              <a:spcBef>
                <a:spcPts val="0"/>
              </a:spcBef>
              <a:spcAft>
                <a:spcPts val="0"/>
              </a:spcAft>
              <a:buSzPts val="8000"/>
              <a:buChar char="●"/>
              <a:defRPr/>
            </a:lvl1pPr>
            <a:lvl2pPr marL="914400" lvl="1" indent="-609600" algn="ctr">
              <a:spcBef>
                <a:spcPts val="0"/>
              </a:spcBef>
              <a:spcAft>
                <a:spcPts val="0"/>
              </a:spcAft>
              <a:buSzPts val="6000"/>
              <a:buChar char="○"/>
              <a:defRPr/>
            </a:lvl2pPr>
            <a:lvl3pPr marL="1371600" lvl="2" indent="-609600" algn="ctr">
              <a:spcBef>
                <a:spcPts val="0"/>
              </a:spcBef>
              <a:spcAft>
                <a:spcPts val="0"/>
              </a:spcAft>
              <a:buSzPts val="6000"/>
              <a:buChar char="■"/>
              <a:defRPr/>
            </a:lvl3pPr>
            <a:lvl4pPr marL="1828800" lvl="3" indent="-609600" algn="ctr">
              <a:spcBef>
                <a:spcPts val="0"/>
              </a:spcBef>
              <a:spcAft>
                <a:spcPts val="0"/>
              </a:spcAft>
              <a:buSzPts val="6000"/>
              <a:buChar char="●"/>
              <a:defRPr/>
            </a:lvl4pPr>
            <a:lvl5pPr marL="2286000" lvl="4" indent="-609600" algn="ctr">
              <a:spcBef>
                <a:spcPts val="0"/>
              </a:spcBef>
              <a:spcAft>
                <a:spcPts val="0"/>
              </a:spcAft>
              <a:buSzPts val="6000"/>
              <a:buChar char="○"/>
              <a:defRPr/>
            </a:lvl5pPr>
            <a:lvl6pPr marL="2743200" lvl="5" indent="-609600" algn="ctr">
              <a:spcBef>
                <a:spcPts val="0"/>
              </a:spcBef>
              <a:spcAft>
                <a:spcPts val="0"/>
              </a:spcAft>
              <a:buSzPts val="6000"/>
              <a:buChar char="■"/>
              <a:defRPr/>
            </a:lvl6pPr>
            <a:lvl7pPr marL="3200400" lvl="6" indent="-609600" algn="ctr">
              <a:spcBef>
                <a:spcPts val="0"/>
              </a:spcBef>
              <a:spcAft>
                <a:spcPts val="0"/>
              </a:spcAft>
              <a:buSzPts val="6000"/>
              <a:buChar char="●"/>
              <a:defRPr/>
            </a:lvl7pPr>
            <a:lvl8pPr marL="3657600" lvl="7" indent="-609600" algn="ctr">
              <a:spcBef>
                <a:spcPts val="0"/>
              </a:spcBef>
              <a:spcAft>
                <a:spcPts val="0"/>
              </a:spcAft>
              <a:buSzPts val="6000"/>
              <a:buChar char="○"/>
              <a:defRPr/>
            </a:lvl8pPr>
            <a:lvl9pPr marL="4114800" lvl="8" indent="-609600" algn="ctr">
              <a:spcBef>
                <a:spcPts val="0"/>
              </a:spcBef>
              <a:spcAft>
                <a:spcPts val="0"/>
              </a:spcAft>
              <a:buSzPts val="6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87735" y="2451336"/>
            <a:ext cx="35199591" cy="3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1750" tIns="421750" rIns="421750" bIns="4217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0"/>
              <a:buNone/>
              <a:defRPr sz="1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87735" y="6348191"/>
            <a:ext cx="35199591" cy="188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1750" tIns="421750" rIns="421750" bIns="421750" anchor="t" anchorCtr="0">
            <a:normAutofit/>
          </a:bodyPr>
          <a:lstStyle>
            <a:lvl1pPr marL="457200" lvl="0" indent="-736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Char char="●"/>
              <a:defRPr sz="8000">
                <a:solidFill>
                  <a:schemeClr val="dk2"/>
                </a:solidFill>
              </a:defRPr>
            </a:lvl1pPr>
            <a:lvl2pPr marL="914400" lvl="1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○"/>
              <a:defRPr sz="6000">
                <a:solidFill>
                  <a:schemeClr val="dk2"/>
                </a:solidFill>
              </a:defRPr>
            </a:lvl2pPr>
            <a:lvl3pPr marL="1371600" lvl="2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■"/>
              <a:defRPr sz="6000">
                <a:solidFill>
                  <a:schemeClr val="dk2"/>
                </a:solidFill>
              </a:defRPr>
            </a:lvl3pPr>
            <a:lvl4pPr marL="1828800" lvl="3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●"/>
              <a:defRPr sz="6000">
                <a:solidFill>
                  <a:schemeClr val="dk2"/>
                </a:solidFill>
              </a:defRPr>
            </a:lvl4pPr>
            <a:lvl5pPr marL="2286000" lvl="4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○"/>
              <a:defRPr sz="6000">
                <a:solidFill>
                  <a:schemeClr val="dk2"/>
                </a:solidFill>
              </a:defRPr>
            </a:lvl5pPr>
            <a:lvl6pPr marL="2743200" lvl="5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■"/>
              <a:defRPr sz="6000">
                <a:solidFill>
                  <a:schemeClr val="dk2"/>
                </a:solidFill>
              </a:defRPr>
            </a:lvl6pPr>
            <a:lvl7pPr marL="3200400" lvl="6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●"/>
              <a:defRPr sz="6000">
                <a:solidFill>
                  <a:schemeClr val="dk2"/>
                </a:solidFill>
              </a:defRPr>
            </a:lvl7pPr>
            <a:lvl8pPr marL="3657600" lvl="7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○"/>
              <a:defRPr sz="6000">
                <a:solidFill>
                  <a:schemeClr val="dk2"/>
                </a:solidFill>
              </a:defRPr>
            </a:lvl8pPr>
            <a:lvl9pPr marL="4114800" lvl="8" indent="-609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Char char="■"/>
              <a:defRPr sz="6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35002497" y="25686451"/>
            <a:ext cx="2268802" cy="21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1750" tIns="421750" rIns="421750" bIns="421750" anchor="ctr" anchorCtr="0">
            <a:normAutofit/>
          </a:bodyPr>
          <a:lstStyle>
            <a:lvl1pPr lvl="0" algn="r">
              <a:buNone/>
              <a:defRPr sz="5000">
                <a:solidFill>
                  <a:schemeClr val="dk2"/>
                </a:solidFill>
              </a:defRPr>
            </a:lvl1pPr>
            <a:lvl2pPr lvl="1" algn="r">
              <a:buNone/>
              <a:defRPr sz="5000">
                <a:solidFill>
                  <a:schemeClr val="dk2"/>
                </a:solidFill>
              </a:defRPr>
            </a:lvl2pPr>
            <a:lvl3pPr lvl="2" algn="r">
              <a:buNone/>
              <a:defRPr sz="5000">
                <a:solidFill>
                  <a:schemeClr val="dk2"/>
                </a:solidFill>
              </a:defRPr>
            </a:lvl3pPr>
            <a:lvl4pPr lvl="3" algn="r">
              <a:buNone/>
              <a:defRPr sz="5000">
                <a:solidFill>
                  <a:schemeClr val="dk2"/>
                </a:solidFill>
              </a:defRPr>
            </a:lvl4pPr>
            <a:lvl5pPr lvl="4" algn="r">
              <a:buNone/>
              <a:defRPr sz="5000">
                <a:solidFill>
                  <a:schemeClr val="dk2"/>
                </a:solidFill>
              </a:defRPr>
            </a:lvl5pPr>
            <a:lvl6pPr lvl="5" algn="r">
              <a:buNone/>
              <a:defRPr sz="5000">
                <a:solidFill>
                  <a:schemeClr val="dk2"/>
                </a:solidFill>
              </a:defRPr>
            </a:lvl6pPr>
            <a:lvl7pPr lvl="6" algn="r">
              <a:buNone/>
              <a:defRPr sz="5000">
                <a:solidFill>
                  <a:schemeClr val="dk2"/>
                </a:solidFill>
              </a:defRPr>
            </a:lvl7pPr>
            <a:lvl8pPr lvl="7" algn="r">
              <a:buNone/>
              <a:defRPr sz="5000">
                <a:solidFill>
                  <a:schemeClr val="dk2"/>
                </a:solidFill>
              </a:defRPr>
            </a:lvl8pPr>
            <a:lvl9pPr lvl="8" algn="r">
              <a:buNone/>
              <a:defRPr sz="5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0F6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11480"/>
            <a:ext cx="367588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630936"/>
            <a:ext cx="731520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D97B29"/>
                </a:solidFill>
                <a:latin typeface="Arial"/>
              </a:rPr>
              <a:t>SECOND LIFE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2633472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4000" b="1">
                <a:solidFill>
                  <a:srgbClr val="23372B"/>
                </a:solidFill>
                <a:latin typeface="Georgia"/>
              </a:rPr>
              <a:t>Leakage-Aware Trash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47672"/>
            <a:ext cx="2651760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0">
                <a:solidFill>
                  <a:srgbClr val="5C6B60"/>
                </a:solidFill>
                <a:latin typeface="Arial"/>
              </a:rPr>
              <a:t>A reproducible six-class pipeline, an honest held-out test, and a live sorting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11960" y="932688"/>
            <a:ext cx="9326880" cy="777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700" b="1">
                <a:solidFill>
                  <a:srgbClr val="5B2191"/>
                </a:solidFill>
                <a:latin typeface="Arial"/>
              </a:rPr>
              <a:t>GROUP [##]  ·  [NAME]  ·  [NAME]  ·  [NAME]  ·  [NAME]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57680" y="1865376"/>
            <a:ext cx="92354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1">
                <a:solidFill>
                  <a:srgbClr val="5C6B60"/>
                </a:solidFill>
                <a:latin typeface="Arial"/>
              </a:rPr>
              <a:t>NYU SHANGHAI · AI SUMMER PROGRAM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246120"/>
            <a:ext cx="9464040" cy="2436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287000" y="3246120"/>
            <a:ext cx="16504920" cy="2436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111960" y="3246120"/>
            <a:ext cx="10149840" cy="1572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111960" y="19293840"/>
            <a:ext cx="10149840" cy="8321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3547872"/>
            <a:ext cx="6400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D97B29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3529584"/>
            <a:ext cx="8183879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500" b="1">
                <a:solidFill>
                  <a:srgbClr val="5B2191"/>
                </a:solidFill>
                <a:latin typeface="Arial"/>
              </a:rPr>
              <a:t>Problem &amp;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224528"/>
            <a:ext cx="8732520" cy="1508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1">
                <a:solidFill>
                  <a:srgbClr val="23372B"/>
                </a:solidFill>
                <a:latin typeface="Georgia"/>
              </a:rPr>
              <a:t>Can a model sort a waste photo reliably—without seeing the same physical object in both training and evaluation?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806440"/>
            <a:ext cx="84124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2F5A3C"/>
                </a:solidFill>
                <a:latin typeface="Arial"/>
              </a:rPr>
              <a:t>TrashNet · 2,527 images · 6 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6510528"/>
            <a:ext cx="187451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5C6B60"/>
                </a:solidFill>
                <a:latin typeface="Arial"/>
              </a:rPr>
              <a:t>Paper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6547104"/>
            <a:ext cx="5120640" cy="237744"/>
          </a:xfrm>
          <a:prstGeom prst="rect">
            <a:avLst/>
          </a:prstGeom>
          <a:solidFill>
            <a:srgbClr val="2F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8" y="6501384"/>
            <a:ext cx="7772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1">
                <a:solidFill>
                  <a:srgbClr val="23372B"/>
                </a:solidFill>
                <a:latin typeface="Arial"/>
              </a:rPr>
              <a:t>594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7077456"/>
            <a:ext cx="187451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5C6B60"/>
                </a:solidFill>
                <a:latin typeface="Arial"/>
              </a:rPr>
              <a:t>Glass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7114032"/>
            <a:ext cx="4318923" cy="237744"/>
          </a:xfrm>
          <a:prstGeom prst="rect">
            <a:avLst/>
          </a:prstGeom>
          <a:solidFill>
            <a:srgbClr val="2F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3568" y="7068312"/>
            <a:ext cx="7772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1">
                <a:solidFill>
                  <a:srgbClr val="23372B"/>
                </a:solidFill>
                <a:latin typeface="Arial"/>
              </a:rPr>
              <a:t>501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7644383"/>
            <a:ext cx="187451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5C6B60"/>
                </a:solidFill>
                <a:latin typeface="Arial"/>
              </a:rPr>
              <a:t>Plastic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7680959"/>
            <a:ext cx="4155132" cy="237744"/>
          </a:xfrm>
          <a:prstGeom prst="rect">
            <a:avLst/>
          </a:prstGeom>
          <a:solidFill>
            <a:srgbClr val="2F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73568" y="7635240"/>
            <a:ext cx="7772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1">
                <a:solidFill>
                  <a:srgbClr val="23372B"/>
                </a:solidFill>
                <a:latin typeface="Arial"/>
              </a:rPr>
              <a:t>482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8211311"/>
            <a:ext cx="187451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5C6B60"/>
                </a:solidFill>
                <a:latin typeface="Arial"/>
              </a:rPr>
              <a:t>Metal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8247887"/>
            <a:ext cx="3534448" cy="237744"/>
          </a:xfrm>
          <a:prstGeom prst="rect">
            <a:avLst/>
          </a:prstGeom>
          <a:solidFill>
            <a:srgbClr val="2F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73568" y="8202167"/>
            <a:ext cx="7772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1">
                <a:solidFill>
                  <a:srgbClr val="23372B"/>
                </a:solidFill>
                <a:latin typeface="Arial"/>
              </a:rPr>
              <a:t>410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" y="8778239"/>
            <a:ext cx="187451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5C6B60"/>
                </a:solidFill>
                <a:latin typeface="Arial"/>
              </a:rPr>
              <a:t>Cardboard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8814815"/>
            <a:ext cx="3474104" cy="237744"/>
          </a:xfrm>
          <a:prstGeom prst="rect">
            <a:avLst/>
          </a:prstGeom>
          <a:solidFill>
            <a:srgbClr val="2F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73568" y="8769095"/>
            <a:ext cx="7772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1">
                <a:solidFill>
                  <a:srgbClr val="23372B"/>
                </a:solidFill>
                <a:latin typeface="Arial"/>
              </a:rPr>
              <a:t>403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9345167"/>
            <a:ext cx="187451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5C6B60"/>
                </a:solidFill>
                <a:latin typeface="Arial"/>
              </a:rPr>
              <a:t>Trash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9381743"/>
            <a:ext cx="1181023" cy="237744"/>
          </a:xfrm>
          <a:prstGeom prst="rect">
            <a:avLst/>
          </a:prstGeom>
          <a:solidFill>
            <a:srgbClr val="D97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73568" y="9336023"/>
            <a:ext cx="7772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300" b="1">
                <a:solidFill>
                  <a:srgbClr val="23372B"/>
                </a:solidFill>
                <a:latin typeface="Arial"/>
              </a:rPr>
              <a:t>137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" y="10168128"/>
            <a:ext cx="8732520" cy="2148840"/>
          </a:xfrm>
          <a:prstGeom prst="roundRect">
            <a:avLst/>
          </a:prstGeom>
          <a:solidFill>
            <a:srgbClr val="F6E8D8"/>
          </a:solidFill>
          <a:ln w="12700">
            <a:solidFill>
              <a:srgbClr val="E9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51560" y="10369296"/>
            <a:ext cx="32918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D97B29"/>
                </a:solidFill>
                <a:latin typeface="Arial"/>
              </a:rPr>
              <a:t>THE DATASET TRAP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10808208"/>
            <a:ext cx="8183879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23372B"/>
                </a:solidFill>
                <a:latin typeface="Arial"/>
              </a:rPr>
              <a:t>TrashNet contains many photographs of the same object from different angles. Random image-level splits can leak object identity across sets.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12829032"/>
            <a:ext cx="6400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D97B29"/>
                </a:solidFill>
                <a:latin typeface="Arial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0744" y="12810744"/>
            <a:ext cx="8183879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500" b="1">
                <a:solidFill>
                  <a:srgbClr val="5B2191"/>
                </a:solidFill>
                <a:latin typeface="Arial"/>
              </a:rPr>
              <a:t>Evaluation Contract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" y="13514832"/>
            <a:ext cx="8641080" cy="12984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23372B"/>
                </a:solidFill>
                <a:latin typeface="Georgia"/>
              </a:rPr>
              <a:t>Split by near-duplicate group, augment only after splitting, and touch the quarantined test set once.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" y="15041880"/>
            <a:ext cx="2514600" cy="141732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E5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7552" y="15133320"/>
            <a:ext cx="2295144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3600" b="1">
                <a:solidFill>
                  <a:srgbClr val="2F5A3C"/>
                </a:solidFill>
                <a:latin typeface="Georgia"/>
              </a:rPr>
              <a:t>1,732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" y="15809976"/>
            <a:ext cx="229514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5C6B60"/>
                </a:solidFill>
                <a:latin typeface="Arial"/>
              </a:rPr>
              <a:t>TRAIN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47872" y="15041880"/>
            <a:ext cx="2514600" cy="141732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E5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0" y="15133320"/>
            <a:ext cx="2295144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3600" b="1">
                <a:solidFill>
                  <a:srgbClr val="2B6CB0"/>
                </a:solidFill>
                <a:latin typeface="Georgia"/>
              </a:rPr>
              <a:t>434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15809976"/>
            <a:ext cx="229514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5C6B60"/>
                </a:solidFill>
                <a:latin typeface="Arial"/>
              </a:rPr>
              <a:t>VALIDATION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15041880"/>
            <a:ext cx="2971800" cy="141732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E5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27648" y="15133320"/>
            <a:ext cx="2752344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3600" b="1">
                <a:solidFill>
                  <a:srgbClr val="D97B29"/>
                </a:solidFill>
                <a:latin typeface="Georgia"/>
              </a:rPr>
              <a:t>361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7648" y="15809976"/>
            <a:ext cx="275234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5C6B60"/>
                </a:solidFill>
                <a:latin typeface="Arial"/>
              </a:rPr>
              <a:t>HELD-OUT 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" y="16687800"/>
            <a:ext cx="8183879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C6B60"/>
                </a:solidFill>
                <a:latin typeface="Arial"/>
              </a:rPr>
              <a:t>Test measured once before intervention; never used to select experiments.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" y="17693640"/>
            <a:ext cx="8732520" cy="3913632"/>
          </a:xfrm>
          <a:prstGeom prst="roundRect">
            <a:avLst/>
          </a:prstGeom>
          <a:solidFill>
            <a:srgbClr val="DCE7D3"/>
          </a:solidFill>
          <a:ln w="12700">
            <a:solidFill>
              <a:srgbClr val="AFC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60704" y="17940528"/>
            <a:ext cx="42062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2F5A3C"/>
                </a:solidFill>
                <a:latin typeface="Arial"/>
              </a:rPr>
              <a:t>WHY THIS IS CREATIVE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" y="18397728"/>
            <a:ext cx="310896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5B2191"/>
                </a:solidFill>
                <a:latin typeface="Arial"/>
              </a:rPr>
              <a:t>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89888" y="18379440"/>
            <a:ext cx="7626096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23372B"/>
                </a:solidFill>
                <a:latin typeface="Arial"/>
              </a:rPr>
              <a:t>Accuracy that survives scrutiny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8992" y="18928080"/>
            <a:ext cx="310896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5B2191"/>
                </a:solidFill>
                <a:latin typeface="Arial"/>
              </a:rPr>
              <a:t>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89888" y="18909792"/>
            <a:ext cx="7626096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3372B"/>
                </a:solidFill>
                <a:latin typeface="Arial"/>
              </a:rPr>
              <a:t>Fixed seeds and committed split identities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" y="19458432"/>
            <a:ext cx="310896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5B2191"/>
                </a:solidFill>
                <a:latin typeface="Arial"/>
              </a:rPr>
              <a:t>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89888" y="19440144"/>
            <a:ext cx="7626096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3372B"/>
                </a:solidFill>
                <a:latin typeface="Arial"/>
              </a:rPr>
              <a:t>Every run logged with a configuration hash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" y="19988784"/>
            <a:ext cx="310896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5B2191"/>
                </a:solidFill>
                <a:latin typeface="Arial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89888" y="19970496"/>
            <a:ext cx="7626096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3372B"/>
                </a:solidFill>
                <a:latin typeface="Arial"/>
              </a:rPr>
              <a:t>Test-spent guard blocks accidental re-evaluation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" y="22018752"/>
            <a:ext cx="31089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D97B29"/>
                </a:solidFill>
                <a:latin typeface="Arial"/>
              </a:rPr>
              <a:t>OFFICIAL METRIC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22338792"/>
            <a:ext cx="457200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4200" b="1">
                <a:solidFill>
                  <a:srgbClr val="5B2191"/>
                </a:solidFill>
                <a:latin typeface="Georgia"/>
              </a:rPr>
              <a:t>89.20%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2" y="23326344"/>
            <a:ext cx="80467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23372B"/>
                </a:solidFill>
                <a:latin typeface="Arial"/>
              </a:rPr>
              <a:t>322 / 361 held-out test images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" y="23911560"/>
            <a:ext cx="8183879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C6B60"/>
                </a:solidFill>
                <a:latin typeface="Arial"/>
              </a:rPr>
              <a:t>This is the test result. The higher 94.93% figure is validation + TTA.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25328" y="3547872"/>
            <a:ext cx="6400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D97B29"/>
                </a:solidFill>
                <a:latin typeface="Arial"/>
              </a:rPr>
              <a:t>03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19688" y="3529584"/>
            <a:ext cx="1504188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500" b="1">
                <a:solidFill>
                  <a:srgbClr val="5B2191"/>
                </a:solidFill>
                <a:latin typeface="Arial"/>
              </a:rPr>
              <a:t>Leakage-Free Method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16768" y="4187952"/>
            <a:ext cx="152704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1">
                <a:solidFill>
                  <a:srgbClr val="2F5A3C"/>
                </a:solidFill>
                <a:latin typeface="Georgia"/>
              </a:rPr>
              <a:t>A simple model with a strict evaluation pipeline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716768" y="4983480"/>
            <a:ext cx="2788920" cy="182880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C9B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853928" y="5093208"/>
            <a:ext cx="502920" cy="502920"/>
          </a:xfrm>
          <a:prstGeom prst="rect">
            <a:avLst/>
          </a:prstGeom>
          <a:solidFill>
            <a:srgbClr val="2F5A3C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30000" y="5093208"/>
            <a:ext cx="19659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23372B"/>
                </a:solidFill>
                <a:latin typeface="Arial"/>
              </a:rPr>
              <a:t>Deduplicate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81360" y="5696712"/>
            <a:ext cx="2459736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C6B60"/>
                </a:solidFill>
                <a:latin typeface="Arial"/>
              </a:rPr>
              <a:t>Perceptual groups keep near-identical views together.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3789152" y="4983480"/>
            <a:ext cx="2788920" cy="182880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C9B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3926312" y="5093208"/>
            <a:ext cx="502920" cy="502920"/>
          </a:xfrm>
          <a:prstGeom prst="rect">
            <a:avLst/>
          </a:prstGeom>
          <a:solidFill>
            <a:srgbClr val="2F5A3C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502384" y="5093208"/>
            <a:ext cx="19659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23372B"/>
                </a:solidFill>
                <a:latin typeface="Arial"/>
              </a:rPr>
              <a:t>Split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953744" y="5696712"/>
            <a:ext cx="2459736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C6B60"/>
                </a:solidFill>
                <a:latin typeface="Arial"/>
              </a:rPr>
              <a:t>Train / validation / test are group-disjoint.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6861536" y="4983480"/>
            <a:ext cx="2788920" cy="182880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C9B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6998696" y="5093208"/>
            <a:ext cx="502920" cy="502920"/>
          </a:xfrm>
          <a:prstGeom prst="rect">
            <a:avLst/>
          </a:prstGeom>
          <a:solidFill>
            <a:srgbClr val="2F5A3C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574768" y="5093208"/>
            <a:ext cx="19659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23372B"/>
                </a:solidFill>
                <a:latin typeface="Arial"/>
              </a:rPr>
              <a:t>Augment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026128" y="5696712"/>
            <a:ext cx="2459736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C6B60"/>
                </a:solidFill>
                <a:latin typeface="Arial"/>
              </a:rPr>
              <a:t>Basic transforms apply to training images only.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9933920" y="4983480"/>
            <a:ext cx="2788920" cy="182880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C9B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0071080" y="5093208"/>
            <a:ext cx="502920" cy="502920"/>
          </a:xfrm>
          <a:prstGeom prst="rect">
            <a:avLst/>
          </a:prstGeom>
          <a:solidFill>
            <a:srgbClr val="2F5A3C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647152" y="5093208"/>
            <a:ext cx="19659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23372B"/>
                </a:solidFill>
                <a:latin typeface="Arial"/>
              </a:rPr>
              <a:t>Fine-tune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098512" y="5696712"/>
            <a:ext cx="2459736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C6B60"/>
                </a:solidFill>
                <a:latin typeface="Arial"/>
              </a:rPr>
              <a:t>ImageNet ResNet-50, 224px, two-phase training.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3006304" y="4983480"/>
            <a:ext cx="2788920" cy="182880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C9B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3143464" y="5093208"/>
            <a:ext cx="502920" cy="502920"/>
          </a:xfrm>
          <a:prstGeom prst="rect">
            <a:avLst/>
          </a:prstGeom>
          <a:solidFill>
            <a:srgbClr val="2F5A3C"/>
          </a:soli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3719536" y="5093208"/>
            <a:ext cx="19659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23372B"/>
                </a:solidFill>
                <a:latin typeface="Arial"/>
              </a:rPr>
              <a:t>Infer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170896" y="5696712"/>
            <a:ext cx="2459736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C6B60"/>
                </a:solidFill>
                <a:latin typeface="Arial"/>
              </a:rPr>
              <a:t>Average four deterministic views with TTA.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523976" y="5522976"/>
            <a:ext cx="310896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900" b="1">
                <a:solidFill>
                  <a:srgbClr val="D97B29"/>
                </a:solidFill>
                <a:latin typeface="Arial"/>
              </a:rPr>
              <a:t>→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596359" y="5522976"/>
            <a:ext cx="310896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900" b="1">
                <a:solidFill>
                  <a:srgbClr val="D97B29"/>
                </a:solidFill>
                <a:latin typeface="Arial"/>
              </a:rPr>
              <a:t>→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668744" y="5522976"/>
            <a:ext cx="310896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900" b="1">
                <a:solidFill>
                  <a:srgbClr val="D97B29"/>
                </a:solidFill>
                <a:latin typeface="Arial"/>
              </a:rPr>
              <a:t>→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741128" y="5522976"/>
            <a:ext cx="310896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900" b="1">
                <a:solidFill>
                  <a:srgbClr val="D97B29"/>
                </a:solidFill>
                <a:latin typeface="Arial"/>
              </a:rPr>
              <a:t>→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716768" y="7168896"/>
            <a:ext cx="15407640" cy="2788920"/>
          </a:xfrm>
          <a:prstGeom prst="roundRect">
            <a:avLst/>
          </a:prstGeom>
          <a:solidFill>
            <a:srgbClr val="1E3A2B"/>
          </a:solidFill>
          <a:ln w="12700">
            <a:solidFill>
              <a:srgbClr val="1E3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1018520" y="7443216"/>
            <a:ext cx="18288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9DB8A0"/>
                </a:solidFill>
                <a:latin typeface="Arial"/>
              </a:rPr>
              <a:t>MODEL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91088" y="7827264"/>
            <a:ext cx="45720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Georgia"/>
              </a:rPr>
              <a:t>ResNet-50 · 224 px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09376" y="8577072"/>
            <a:ext cx="1440180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D9E4D6"/>
                </a:solidFill>
                <a:latin typeface="Arial"/>
              </a:rPr>
              <a:t>weighted sampler  ·  label smoothing 0.1  ·  weight decay 0.05  ·  seed 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09376" y="9189720"/>
            <a:ext cx="144018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F0B27A"/>
                </a:solidFill>
                <a:latin typeface="Arial"/>
              </a:rPr>
              <a:t>The model is intentionally conventional; the contribution is trustworthy measurement.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698480" y="10378440"/>
            <a:ext cx="6400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1292840" y="10360152"/>
            <a:ext cx="1476756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500" b="1">
                <a:solidFill>
                  <a:srgbClr val="5B2191"/>
                </a:solidFill>
                <a:latin typeface="Arial"/>
              </a:rPr>
              <a:t>What changed the result?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789920" y="11137392"/>
            <a:ext cx="5486400" cy="566928"/>
          </a:xfrm>
          <a:prstGeom prst="rect">
            <a:avLst/>
          </a:prstGeom>
          <a:solidFill>
            <a:srgbClr val="5B2191"/>
          </a:solidFill>
          <a:ln w="12700">
            <a:solidFill>
              <a:srgbClr val="5B2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863072" y="11228832"/>
            <a:ext cx="5340096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Configuration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276320" y="11137392"/>
            <a:ext cx="3108960" cy="566928"/>
          </a:xfrm>
          <a:prstGeom prst="rect">
            <a:avLst/>
          </a:prstGeom>
          <a:solidFill>
            <a:srgbClr val="5B2191"/>
          </a:solidFill>
          <a:ln w="12700">
            <a:solidFill>
              <a:srgbClr val="5B2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6349472" y="11228832"/>
            <a:ext cx="2962656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Val. accuracy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9385280" y="11137392"/>
            <a:ext cx="2743200" cy="566928"/>
          </a:xfrm>
          <a:prstGeom prst="rect">
            <a:avLst/>
          </a:prstGeom>
          <a:solidFill>
            <a:srgbClr val="5B2191"/>
          </a:solidFill>
          <a:ln w="12700">
            <a:solidFill>
              <a:srgbClr val="5B2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9458431" y="11228832"/>
            <a:ext cx="2596896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Net images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128480" y="11137392"/>
            <a:ext cx="3383280" cy="566928"/>
          </a:xfrm>
          <a:prstGeom prst="rect">
            <a:avLst/>
          </a:prstGeom>
          <a:solidFill>
            <a:srgbClr val="5B2191"/>
          </a:solidFill>
          <a:ln w="12700">
            <a:solidFill>
              <a:srgbClr val="5B2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2201631" y="11228832"/>
            <a:ext cx="3236976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789920" y="11759184"/>
            <a:ext cx="548640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863072" y="11850624"/>
            <a:ext cx="534009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23372B"/>
                </a:solidFill>
                <a:latin typeface="Arial"/>
              </a:rPr>
              <a:t>Raw baseline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6276320" y="11759184"/>
            <a:ext cx="310896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6349472" y="11850624"/>
            <a:ext cx="296265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0">
                <a:solidFill>
                  <a:srgbClr val="23372B"/>
                </a:solidFill>
                <a:latin typeface="Arial"/>
              </a:rPr>
              <a:t>93.09%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9385280" y="11759184"/>
            <a:ext cx="274320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9458431" y="11850624"/>
            <a:ext cx="259689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0">
                <a:solidFill>
                  <a:srgbClr val="23372B"/>
                </a:solidFill>
                <a:latin typeface="Arial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2128480" y="11759184"/>
            <a:ext cx="338328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2201631" y="11850624"/>
            <a:ext cx="323697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0">
                <a:solidFill>
                  <a:srgbClr val="23372B"/>
                </a:solidFill>
                <a:latin typeface="Arial"/>
              </a:rPr>
              <a:t>Reference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789920" y="12371832"/>
            <a:ext cx="5486400" cy="566928"/>
          </a:xfrm>
          <a:prstGeom prst="rect">
            <a:avLst/>
          </a:prstGeom>
          <a:solidFill>
            <a:srgbClr val="F2F7EF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863072" y="12463272"/>
            <a:ext cx="534009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2F5A3C"/>
                </a:solidFill>
                <a:latin typeface="Arial"/>
              </a:rPr>
              <a:t>+ four-view TTA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6276320" y="12371832"/>
            <a:ext cx="3108960" cy="566928"/>
          </a:xfrm>
          <a:prstGeom prst="rect">
            <a:avLst/>
          </a:prstGeom>
          <a:solidFill>
            <a:srgbClr val="F2F7EF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6349472" y="12463272"/>
            <a:ext cx="296265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2F5A3C"/>
                </a:solidFill>
                <a:latin typeface="Arial"/>
              </a:rPr>
              <a:t>94.93%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9385280" y="12371832"/>
            <a:ext cx="2743200" cy="566928"/>
          </a:xfrm>
          <a:prstGeom prst="rect">
            <a:avLst/>
          </a:prstGeom>
          <a:solidFill>
            <a:srgbClr val="F2F7EF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9458431" y="12463272"/>
            <a:ext cx="259689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2F5A3C"/>
                </a:solidFill>
                <a:latin typeface="Arial"/>
              </a:rPr>
              <a:t>+8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2128480" y="12371832"/>
            <a:ext cx="3383280" cy="566928"/>
          </a:xfrm>
          <a:prstGeom prst="rect">
            <a:avLst/>
          </a:prstGeom>
          <a:solidFill>
            <a:srgbClr val="F2F7EF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2201631" y="12463272"/>
            <a:ext cx="323697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2F5A3C"/>
                </a:solidFill>
                <a:latin typeface="Arial"/>
              </a:rPr>
              <a:t>Adopted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789920" y="12984480"/>
            <a:ext cx="548640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0863072" y="13075919"/>
            <a:ext cx="534009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23372B"/>
                </a:solidFill>
                <a:latin typeface="Arial"/>
              </a:rPr>
              <a:t>384px progressive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276320" y="12984480"/>
            <a:ext cx="310896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6349472" y="13075919"/>
            <a:ext cx="296265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0">
                <a:solidFill>
                  <a:srgbClr val="23372B"/>
                </a:solidFill>
                <a:latin typeface="Arial"/>
              </a:rPr>
              <a:t>94.93%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9385280" y="12984480"/>
            <a:ext cx="274320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9458431" y="13075919"/>
            <a:ext cx="259689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0">
                <a:solidFill>
                  <a:srgbClr val="23372B"/>
                </a:solidFill>
                <a:latin typeface="Arial"/>
              </a:rPr>
              <a:t>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2128480" y="12984480"/>
            <a:ext cx="338328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22201631" y="13075919"/>
            <a:ext cx="323697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0">
                <a:solidFill>
                  <a:srgbClr val="23372B"/>
                </a:solidFill>
                <a:latin typeface="Arial"/>
              </a:rPr>
              <a:t>Rejected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789920" y="13597128"/>
            <a:ext cx="548640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863072" y="13688567"/>
            <a:ext cx="534009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23372B"/>
                </a:solidFill>
                <a:latin typeface="Arial"/>
              </a:rPr>
              <a:t>Modern augmentation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6276320" y="13597128"/>
            <a:ext cx="310896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6349472" y="13688567"/>
            <a:ext cx="296265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0">
                <a:solidFill>
                  <a:srgbClr val="23372B"/>
                </a:solidFill>
                <a:latin typeface="Arial"/>
              </a:rPr>
              <a:t>95.62%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9385280" y="13597128"/>
            <a:ext cx="274320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9458431" y="13688567"/>
            <a:ext cx="259689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0">
                <a:solidFill>
                  <a:srgbClr val="23372B"/>
                </a:solidFill>
                <a:latin typeface="Arial"/>
              </a:rPr>
              <a:t>+3 vs TTA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2128480" y="13597128"/>
            <a:ext cx="338328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22201631" y="13688567"/>
            <a:ext cx="323697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0">
                <a:solidFill>
                  <a:srgbClr val="23372B"/>
                </a:solidFill>
                <a:latin typeface="Arial"/>
              </a:rPr>
              <a:t>Rejected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789920" y="14209776"/>
            <a:ext cx="548640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0863072" y="14301215"/>
            <a:ext cx="534009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23372B"/>
                </a:solidFill>
                <a:latin typeface="Arial"/>
              </a:rPr>
              <a:t>Weight decay 0.10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6276320" y="14209776"/>
            <a:ext cx="310896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6349472" y="14301215"/>
            <a:ext cx="296265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0">
                <a:solidFill>
                  <a:srgbClr val="23372B"/>
                </a:solidFill>
                <a:latin typeface="Arial"/>
              </a:rPr>
              <a:t>94.70%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9385280" y="14209776"/>
            <a:ext cx="274320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9458431" y="14301215"/>
            <a:ext cx="259689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0">
                <a:solidFill>
                  <a:srgbClr val="23372B"/>
                </a:solidFill>
                <a:latin typeface="Arial"/>
              </a:rPr>
              <a:t>−1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2128480" y="14209776"/>
            <a:ext cx="3383280" cy="566928"/>
          </a:xfrm>
          <a:prstGeom prst="rect">
            <a:avLst/>
          </a:prstGeom>
          <a:solidFill>
            <a:srgbClr val="FFFDF6"/>
          </a:solidFill>
          <a:ln w="12700">
            <a:solidFill>
              <a:srgbClr val="DA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22201631" y="14301215"/>
            <a:ext cx="3236976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0">
                <a:solidFill>
                  <a:srgbClr val="23372B"/>
                </a:solidFill>
                <a:latin typeface="Arial"/>
              </a:rPr>
              <a:t>Rejected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863072" y="14977872"/>
            <a:ext cx="14996159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C6B60"/>
                </a:solidFill>
                <a:latin typeface="Arial"/>
              </a:rPr>
              <a:t>Pre-registered acceptance gate: at least +7 validation images, no macro-F1 drop, and no major class-recall loss.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698480" y="15727680"/>
            <a:ext cx="6400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1292840" y="15709392"/>
            <a:ext cx="1476756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500" b="1">
                <a:solidFill>
                  <a:srgbClr val="5B2191"/>
                </a:solidFill>
                <a:latin typeface="Arial"/>
              </a:rPr>
              <a:t>Training behavior &amp; error evidence</a:t>
            </a:r>
          </a:p>
        </p:txBody>
      </p:sp>
      <p:pic>
        <p:nvPicPr>
          <p:cNvPr id="149" name="Picture 148" descr="curves_fold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08" y="16504920"/>
            <a:ext cx="7360920" cy="5760720"/>
          </a:xfrm>
          <a:prstGeom prst="rect">
            <a:avLst/>
          </a:prstGeom>
        </p:spPr>
      </p:pic>
      <p:pic>
        <p:nvPicPr>
          <p:cNvPr id="150" name="Picture 149" descr="top30_highest_loss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4304" y="16504920"/>
            <a:ext cx="7360920" cy="5760720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10881360" y="22366224"/>
            <a:ext cx="71323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5C6B60"/>
                </a:solidFill>
                <a:latin typeface="Arial"/>
              </a:rPr>
              <a:t>Learning curves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8507456" y="22366224"/>
            <a:ext cx="71323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5C6B60"/>
                </a:solidFill>
                <a:latin typeface="Arial"/>
              </a:rPr>
              <a:t>Highest-loss audit examples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0808208" y="22969728"/>
            <a:ext cx="14977872" cy="3611880"/>
          </a:xfrm>
          <a:prstGeom prst="roundRect">
            <a:avLst/>
          </a:prstGeom>
          <a:solidFill>
            <a:srgbClr val="F6E8D8"/>
          </a:solidFill>
          <a:ln w="12700">
            <a:solidFill>
              <a:srgbClr val="E9C4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1045952" y="23225760"/>
            <a:ext cx="27432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D97B29"/>
                </a:solidFill>
                <a:latin typeface="Arial"/>
              </a:rPr>
              <a:t>ERROR AUDIT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1045952" y="23664672"/>
            <a:ext cx="14493240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800" b="1">
                <a:solidFill>
                  <a:srgbClr val="23372B"/>
                </a:solidFill>
                <a:latin typeface="Georgia"/>
              </a:rPr>
              <a:t>29 of the 30 highest-loss test examples were errors. Manual review judged 14 clearly ambiguous or mislabeled, plus one borderline case.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1045952" y="25072848"/>
            <a:ext cx="1449324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5C6B60"/>
                </a:solidFill>
                <a:latin typeface="Arial"/>
              </a:rPr>
              <a:t>Interpretation: some remaining error is a data-quality ceiling—not automatically a modelling failure.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7450288" y="3547872"/>
            <a:ext cx="6400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D97B29"/>
                </a:solidFill>
                <a:latin typeface="Arial"/>
              </a:rPr>
              <a:t>04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8044648" y="3529584"/>
            <a:ext cx="8732519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500" b="1">
                <a:solidFill>
                  <a:srgbClr val="5B2191"/>
                </a:solidFill>
                <a:latin typeface="Arial"/>
              </a:rPr>
              <a:t>Results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27477720" y="4315968"/>
            <a:ext cx="4480560" cy="141732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E5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27587448" y="4407407"/>
            <a:ext cx="4261104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3600" b="1">
                <a:solidFill>
                  <a:srgbClr val="D97B29"/>
                </a:solidFill>
                <a:latin typeface="Georgia"/>
              </a:rPr>
              <a:t>89.20%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7587448" y="5084064"/>
            <a:ext cx="42611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5C6B60"/>
                </a:solidFill>
                <a:latin typeface="Arial"/>
              </a:rPr>
              <a:t>HELD-OUT TEST · 322/361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2141160" y="4315968"/>
            <a:ext cx="4480560" cy="141732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E5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32250887" y="4407407"/>
            <a:ext cx="4261104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3600" b="1">
                <a:solidFill>
                  <a:srgbClr val="2F5A3C"/>
                </a:solidFill>
                <a:latin typeface="Georgia"/>
              </a:rPr>
              <a:t>94.93%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2250887" y="5084064"/>
            <a:ext cx="42611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5C6B60"/>
                </a:solidFill>
                <a:latin typeface="Arial"/>
              </a:rPr>
              <a:t>VALIDATION + 4-VIEW TTA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27477720" y="5925312"/>
            <a:ext cx="4480560" cy="141732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E5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27587448" y="6016752"/>
            <a:ext cx="4261104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3600" b="1">
                <a:solidFill>
                  <a:srgbClr val="5B2191"/>
                </a:solidFill>
                <a:latin typeface="Georgia"/>
              </a:rPr>
              <a:t>94.14%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7587448" y="6693408"/>
            <a:ext cx="42611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5C6B60"/>
                </a:solidFill>
                <a:latin typeface="Arial"/>
              </a:rPr>
              <a:t>VALIDATION MACRO-F1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2141160" y="5925312"/>
            <a:ext cx="4480560" cy="1417320"/>
          </a:xfrm>
          <a:prstGeom prst="roundRect">
            <a:avLst/>
          </a:prstGeom>
          <a:solidFill>
            <a:srgbClr val="FFFDF6"/>
          </a:solidFill>
          <a:ln w="12700">
            <a:solidFill>
              <a:srgbClr val="E5D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32250887" y="6016752"/>
            <a:ext cx="4261104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3600" b="1">
                <a:solidFill>
                  <a:srgbClr val="2B6CB0"/>
                </a:solidFill>
                <a:latin typeface="Georgia"/>
              </a:rPr>
              <a:t>+8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2250887" y="6693408"/>
            <a:ext cx="42611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5C6B60"/>
                </a:solidFill>
                <a:latin typeface="Arial"/>
              </a:rPr>
              <a:t>VAL IMAGES FIXED BY TTA</a:t>
            </a:r>
          </a:p>
        </p:txBody>
      </p:sp>
      <p:pic>
        <p:nvPicPr>
          <p:cNvPr id="171" name="Picture 170" descr="confusion_baseline_resnet50_val_fold0_t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96592" y="7754112"/>
            <a:ext cx="8979408" cy="7498079"/>
          </a:xfrm>
          <a:prstGeom prst="rect">
            <a:avLst/>
          </a:prstGeom>
        </p:spPr>
      </p:pic>
      <p:sp>
        <p:nvSpPr>
          <p:cNvPr id="172" name="TextBox 171"/>
          <p:cNvSpPr txBox="1"/>
          <p:nvPr/>
        </p:nvSpPr>
        <p:spPr>
          <a:xfrm>
            <a:off x="27596592" y="15343632"/>
            <a:ext cx="8979408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5C6B60"/>
                </a:solidFill>
                <a:latin typeface="Arial"/>
              </a:rPr>
              <a:t>Validation confusion matrix · same locked checkpoint + TTA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27596592" y="16002000"/>
            <a:ext cx="8979408" cy="2286000"/>
          </a:xfrm>
          <a:prstGeom prst="roundRect">
            <a:avLst/>
          </a:prstGeom>
          <a:solidFill>
            <a:srgbClr val="DCE7D3"/>
          </a:solidFill>
          <a:ln w="12700">
            <a:solidFill>
              <a:srgbClr val="AFC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27852624" y="16239744"/>
            <a:ext cx="219456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1">
                <a:solidFill>
                  <a:srgbClr val="2F5A3C"/>
                </a:solidFill>
                <a:latin typeface="Arial"/>
              </a:rPr>
              <a:t>KEY RESULT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7852624" y="16623792"/>
            <a:ext cx="8458200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23372B"/>
                </a:solidFill>
                <a:latin typeface="Georgia"/>
              </a:rPr>
              <a:t>TTA improved accuracy without retraining. All three training interventions failed the pre-registered adoption gate.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7450288" y="19586448"/>
            <a:ext cx="6400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400" b="1">
                <a:solidFill>
                  <a:srgbClr val="D97B29"/>
                </a:solidFill>
                <a:latin typeface="Arial"/>
              </a:rPr>
              <a:t>05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8044648" y="19568160"/>
            <a:ext cx="8732519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500" b="1">
                <a:solidFill>
                  <a:srgbClr val="5B2191"/>
                </a:solidFill>
                <a:latin typeface="Arial"/>
              </a:rPr>
              <a:t>Takeaways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27596592" y="20317968"/>
            <a:ext cx="566928" cy="566928"/>
          </a:xfrm>
          <a:prstGeom prst="roundRect">
            <a:avLst/>
          </a:prstGeom>
          <a:solidFill>
            <a:srgbClr val="5B2191"/>
          </a:solidFill>
          <a:ln w="12700">
            <a:solidFill>
              <a:srgbClr val="5B2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27596592" y="20354544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8373832" y="20308823"/>
            <a:ext cx="786384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23372B"/>
                </a:solidFill>
                <a:latin typeface="Georgia"/>
              </a:rPr>
              <a:t>Split by object, not just image.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27596592" y="21250656"/>
            <a:ext cx="566928" cy="566928"/>
          </a:xfrm>
          <a:prstGeom prst="roundRect">
            <a:avLst/>
          </a:prstGeom>
          <a:solidFill>
            <a:srgbClr val="5B2191"/>
          </a:solidFill>
          <a:ln w="12700">
            <a:solidFill>
              <a:srgbClr val="5B2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27596592" y="21287231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8373832" y="21241511"/>
            <a:ext cx="786384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23372B"/>
                </a:solidFill>
                <a:latin typeface="Georgia"/>
              </a:rPr>
              <a:t>Report test and validation separately.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27596592" y="22183344"/>
            <a:ext cx="566928" cy="566928"/>
          </a:xfrm>
          <a:prstGeom prst="roundRect">
            <a:avLst/>
          </a:prstGeom>
          <a:solidFill>
            <a:srgbClr val="5B2191"/>
          </a:solidFill>
          <a:ln w="12700">
            <a:solidFill>
              <a:srgbClr val="5B2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27596592" y="22219919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8373832" y="22174199"/>
            <a:ext cx="786384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23372B"/>
                </a:solidFill>
                <a:latin typeface="Georgia"/>
              </a:rPr>
              <a:t>Better evaluation can matter more than a newer backbone.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27596592" y="23116031"/>
            <a:ext cx="566928" cy="566928"/>
          </a:xfrm>
          <a:prstGeom prst="roundRect">
            <a:avLst/>
          </a:prstGeom>
          <a:solidFill>
            <a:srgbClr val="5B2191"/>
          </a:solidFill>
          <a:ln w="12700">
            <a:solidFill>
              <a:srgbClr val="5B2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27596592" y="23152607"/>
            <a:ext cx="56692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28373832" y="23106887"/>
            <a:ext cx="786384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23372B"/>
                </a:solidFill>
                <a:latin typeface="Georgia"/>
              </a:rPr>
              <a:t>Remaining errors include ambiguity and label noise.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31520" y="27770328"/>
            <a:ext cx="3630168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C6B60"/>
                </a:solidFill>
                <a:latin typeface="Arial"/>
              </a:rPr>
              <a:t>Source: TrashNet (Thung &amp; Yang, 2016). Test result was measured once and not reused for model selection. All values trace to experiments.csv and FINAL_SUMMARY.md.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552</Words>
  <Application>Microsoft Macintosh PowerPoint</Application>
  <PresentationFormat>Custom</PresentationFormat>
  <Paragraphs>128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Georgia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Huy Ho</cp:lastModifiedBy>
  <cp:revision>55</cp:revision>
  <dcterms:modified xsi:type="dcterms:W3CDTF">2026-07-21T06:15:34Z</dcterms:modified>
</cp:coreProperties>
</file>